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891B2">
              <a:alpha val="3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498080" y="3657600"/>
            <a:ext cx="2011680" cy="2011680"/>
          </a:xfrm>
          <a:prstGeom prst="ellipse">
            <a:avLst/>
          </a:prstGeom>
          <a:solidFill>
            <a:srgbClr val="0891B2">
              <a:alpha val="5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9144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大模型技术详解</a:t>
            </a:r>
            <a:endParaRPr lang="en-US" sz="4000" dirty="0"/>
          </a:p>
        </p:txBody>
      </p:sp>
      <p:sp>
        <p:nvSpPr>
          <p:cNvPr id="38" name="Text 36"/>
          <p:cNvSpPr/>
          <p:nvPr/>
        </p:nvSpPr>
        <p:spPr>
          <a:xfrm>
            <a:off x="548640" y="1783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原理 · 训练流程 · RAG · Agent · 算法详解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48640" y="2377440"/>
            <a:ext cx="27432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2560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MiniMax Platform V6.8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8640" y="2880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2FE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 · 架构 · 算法 · 平台实现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229600" y="45720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68680"/>
            <a:ext cx="64008" cy="5669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68680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9418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基础原理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16128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· Attention · Scaling Law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527048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527048"/>
            <a:ext cx="64008" cy="5669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527048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49240" y="1600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训练流程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49240" y="181965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预训练 · SFT · RLHF · DPO · LoRA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185416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185416"/>
            <a:ext cx="64008" cy="5669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185416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22585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检索增强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2478024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分块 · Embedding · HNSW · Hybrid Search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843784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843784"/>
            <a:ext cx="64008" cy="5669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843784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49240" y="291693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智能体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49240" y="313639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· CoT · ToT · 规划 · 记忆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502152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502152"/>
            <a:ext cx="64008" cy="5669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502152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43000" y="357530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向量与算法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43000" y="37947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· ANN · Function Calling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416052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4160520"/>
            <a:ext cx="64008" cy="5669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4160520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49240" y="42336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平台实现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49240" y="445312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模型路由 · SSE · ONNX · Skill Engine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LLM 基础原理：Transformer 架构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4114800" cy="475488"/>
          </a:xfrm>
          <a:prstGeom prst="roundRect">
            <a:avLst>
              <a:gd name="adj" fmla="val 9615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73152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Tokens [x₁, x₂, ..., xₙ]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240280" y="116128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4114800" cy="475488"/>
          </a:xfrm>
          <a:prstGeom prst="roundRect">
            <a:avLst>
              <a:gd name="adj" fmla="val 9615"/>
            </a:avLst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8016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+ Positional Encoding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40280" y="170992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828800"/>
            <a:ext cx="4114800" cy="475488"/>
          </a:xfrm>
          <a:prstGeom prst="roundRect">
            <a:avLst>
              <a:gd name="adj" fmla="val 9615"/>
            </a:avLst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82880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× Encoder Layer (Multi-Head + FFN)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40280" y="225856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4114800" cy="475488"/>
          </a:xfrm>
          <a:prstGeom prst="roundRect">
            <a:avLst>
              <a:gd name="adj" fmla="val 9615"/>
            </a:avLst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37744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× Decoder Layer (Masked-MHA + Cross-Attn + FFN)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40280" y="280720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4114800" cy="475488"/>
          </a:xfrm>
          <a:prstGeom prst="roundRect">
            <a:avLst>
              <a:gd name="adj" fmla="val 9615"/>
            </a:avLst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92608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+ Softmax → Output Probabilities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0" y="685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核心组件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1051560"/>
            <a:ext cx="4114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1161288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161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Q/K/V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349240" y="1143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Scaled Dot-Product Attention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9240" y="1417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Attention(Q,K,V) = softmax(QKᵀ / √dₖ) · 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除 √dₖ 防梯度消失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2011680"/>
            <a:ext cx="4114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121408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121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49240" y="2103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Multi-Head Attention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49240" y="2377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 个注意力头并行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各头学习不同语义特征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2971800"/>
            <a:ext cx="4114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081528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3081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34924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Feed-Forward Network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49240" y="3337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两层线性+激活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残差连接: x + Sublayer(x)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63440" y="3931920"/>
            <a:ext cx="4114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4041648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0" y="4041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349240" y="4023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位置编码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4924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RoPE (LLaMA): 旋转矩阵编码位置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ALiBi: 无需训练的偏差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训练流程：预训练 → SFT → RLHF / DPO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27432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58368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005840"/>
            <a:ext cx="2743200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83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8961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预训练 (Pre-training)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" y="1325880"/>
            <a:ext cx="9144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2618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海量无标注文本 (10T+ tokens)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0352" y="1856232"/>
            <a:ext cx="9144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79222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 Token Prediction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0352" y="2386584"/>
            <a:ext cx="9144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32257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下一个 token 预测损失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0352" y="2916936"/>
            <a:ext cx="9144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8529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混合精度 BF16/FP16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0352" y="3447288"/>
            <a:ext cx="9144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梯度检查点节省显存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429768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3B82F6">
              <a:alpha val="1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976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~10²³ FLOPs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46120" y="658368"/>
            <a:ext cx="27432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658368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/>
        </p:spPr>
      </p:sp>
      <p:sp>
        <p:nvSpPr>
          <p:cNvPr id="24" name="Shape 22"/>
          <p:cNvSpPr/>
          <p:nvPr/>
        </p:nvSpPr>
        <p:spPr>
          <a:xfrm>
            <a:off x="3246120" y="1005840"/>
            <a:ext cx="2743200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3246120" y="6583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46120" y="8961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监督微调 (SFT)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10712" y="1325880"/>
            <a:ext cx="9144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3566160" y="12618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人工标注的对话数据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10712" y="1856232"/>
            <a:ext cx="9144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3566160" y="179222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ChatML 格式: system/user/assistant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410712" y="2386584"/>
            <a:ext cx="9144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3566160" y="232257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只对 assistant token 计算 loss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10712" y="2916936"/>
            <a:ext cx="9144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3566160" y="28529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LoRA: ΔW = A · B (低秩更新)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410712" y="3447288"/>
            <a:ext cx="9144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3566160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QLoRA: 4-bit NF4 量化 + LoRA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520440" y="429768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7C3AED">
              <a:alpha val="1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520440" y="42976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~10²² FLOPs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26480" y="658368"/>
            <a:ext cx="27432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26480" y="658368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59669"/>
          </a:solidFill>
          <a:ln/>
        </p:spPr>
      </p:sp>
      <p:sp>
        <p:nvSpPr>
          <p:cNvPr id="41" name="Shape 39"/>
          <p:cNvSpPr/>
          <p:nvPr/>
        </p:nvSpPr>
        <p:spPr>
          <a:xfrm>
            <a:off x="6126480" y="1005840"/>
            <a:ext cx="2743200" cy="182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2" name="Text 40"/>
          <p:cNvSpPr/>
          <p:nvPr/>
        </p:nvSpPr>
        <p:spPr>
          <a:xfrm>
            <a:off x="6126480" y="6583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26480" y="8961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对齐训练 (RLHF / DPO)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91072" y="1325880"/>
            <a:ext cx="91440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5" name="Text 43"/>
          <p:cNvSpPr/>
          <p:nvPr/>
        </p:nvSpPr>
        <p:spPr>
          <a:xfrm>
            <a:off x="6446520" y="12618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RLHF: Reward Model + PPO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91072" y="1856232"/>
            <a:ext cx="91440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7" name="Text 45"/>
          <p:cNvSpPr/>
          <p:nvPr/>
        </p:nvSpPr>
        <p:spPr>
          <a:xfrm>
            <a:off x="6446520" y="179222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DPO: 直接偏好优化 (无需 RM)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291072" y="2386584"/>
            <a:ext cx="91440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9" name="Text 47"/>
          <p:cNvSpPr/>
          <p:nvPr/>
        </p:nvSpPr>
        <p:spPr>
          <a:xfrm>
            <a:off x="6446520" y="232257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loss = -log σ(β · (logπ_θ(win) - logπ_θ(lose)))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91072" y="2916936"/>
            <a:ext cx="91440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1" name="Text 49"/>
          <p:cNvSpPr/>
          <p:nvPr/>
        </p:nvSpPr>
        <p:spPr>
          <a:xfrm>
            <a:off x="6446520" y="28529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避免生成有害/无用内容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291072" y="3447288"/>
            <a:ext cx="91440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3" name="Text 51"/>
          <p:cNvSpPr/>
          <p:nvPr/>
        </p:nvSpPr>
        <p:spPr>
          <a:xfrm>
            <a:off x="6446520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迭代优化多轮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400800" y="429768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059669">
              <a:alpha val="12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6400800" y="42976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~10²¹ FLOPs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090672" y="22860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75569"/>
                </a:solidFill>
              </a:rPr>
              <a:t>→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5961888" y="22860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75569"/>
                </a:solidFill>
              </a:rPr>
              <a:t>→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RAG 检索增强生成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4023360" cy="36576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583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📚 索引构建 (Indexing)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40233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15568"/>
            <a:ext cx="54864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2070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📄 文档上传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14996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/ Word / Markdown / HTML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148840" y="1828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82F6"/>
                </a:solidFill>
              </a:rPr>
              <a:t>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938528"/>
            <a:ext cx="40233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938528"/>
            <a:ext cx="54864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0299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✂️ 文本分块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" y="232257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512-1024 tokens, 128 overlap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48840" y="265176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82F6"/>
                </a:solidFill>
              </a:rPr>
              <a:t>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61488"/>
            <a:ext cx="40233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761488"/>
            <a:ext cx="54864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28529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🔢 Embedding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" y="314553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 → 向量 (1536 dim)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48840" y="34747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82F6"/>
                </a:solidFill>
              </a:rPr>
              <a:t>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584448"/>
            <a:ext cx="40233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584448"/>
            <a:ext cx="54864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367588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🗄️ 向量入库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" y="396849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HNSW 索引 → Milvus / H2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658368"/>
            <a:ext cx="402336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6583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查询检索 (Query)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1115568"/>
            <a:ext cx="4023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1115568"/>
            <a:ext cx="54864" cy="5303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" name="Text 28"/>
          <p:cNvSpPr/>
          <p:nvPr/>
        </p:nvSpPr>
        <p:spPr>
          <a:xfrm>
            <a:off x="4919472" y="11704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❓ 用户问题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19472" y="138988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自然语言提问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37960" y="162763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</a:rPr>
              <a:t>↓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1719072"/>
            <a:ext cx="4023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1719072"/>
            <a:ext cx="54864" cy="5303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5" name="Text 33"/>
          <p:cNvSpPr/>
          <p:nvPr/>
        </p:nvSpPr>
        <p:spPr>
          <a:xfrm>
            <a:off x="4919472" y="177393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🔢 问题向量化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19472" y="199339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 → 1536 dim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537960" y="2231136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</a:rPr>
              <a:t>↓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2322576"/>
            <a:ext cx="4023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2322576"/>
            <a:ext cx="54864" cy="5303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0" name="Text 38"/>
          <p:cNvSpPr/>
          <p:nvPr/>
        </p:nvSpPr>
        <p:spPr>
          <a:xfrm>
            <a:off x="4919472" y="23774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Top-K 检索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19472" y="259689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HNSW ANN 搜索, cos_sim &gt; 0.75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537960" y="283464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</a:rPr>
              <a:t>↓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2926080"/>
            <a:ext cx="4023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0" y="2926080"/>
            <a:ext cx="54864" cy="5303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5" name="Text 43"/>
          <p:cNvSpPr/>
          <p:nvPr/>
        </p:nvSpPr>
        <p:spPr>
          <a:xfrm>
            <a:off x="4919472" y="298094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🔄 重排序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919472" y="320040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Cross-Encoder 精排 Top-20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537960" y="343814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</a:rPr>
              <a:t>↓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54880" y="3529584"/>
            <a:ext cx="4023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54880" y="3529584"/>
            <a:ext cx="54864" cy="5303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0" name="Text 48"/>
          <p:cNvSpPr/>
          <p:nvPr/>
        </p:nvSpPr>
        <p:spPr>
          <a:xfrm>
            <a:off x="4919472" y="358444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Prompt 组装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919472" y="380390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检索结果注入上下文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537960" y="404164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</a:rPr>
              <a:t>↓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754880" y="4133088"/>
            <a:ext cx="4023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54880" y="4133088"/>
            <a:ext cx="54864" cy="5303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5" name="Text 53"/>
          <p:cNvSpPr/>
          <p:nvPr/>
        </p:nvSpPr>
        <p:spPr>
          <a:xfrm>
            <a:off x="4919472" y="418795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LLM 生成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919472" y="440740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Streaming SSE 回复 + 引用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65760" y="4498848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D97706">
              <a:alpha val="12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548640" y="44988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Search: BM25 (关键词) + 向量相似度 → RRF 融合 (k=60) → Top-K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Agent 智能体编排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566160" y="960120"/>
            <a:ext cx="2011680" cy="12801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3566160" y="96012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大脑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731520"/>
            <a:ext cx="23774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731520"/>
            <a:ext cx="2377440" cy="292608"/>
          </a:xfrm>
          <a:prstGeom prst="rect">
            <a:avLst>
              <a:gd name="adj" fmla="val 18750"/>
            </a:avLst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7315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Planner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06070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RulePlanner / LlmPlanner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任务分解 + Kahn 拓扑排序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691640"/>
            <a:ext cx="23774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91640"/>
            <a:ext cx="2377440" cy="292608"/>
          </a:xfrm>
          <a:prstGeom prst="rect">
            <a:avLst>
              <a:gd name="adj" fmla="val 18750"/>
            </a:avLst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6916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🧠 Memory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02082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短期: ConcurrentHashMap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长期: List&lt;Fact&gt; (H2)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651760"/>
            <a:ext cx="23774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651760"/>
            <a:ext cx="2377440" cy="292608"/>
          </a:xfrm>
          <a:prstGeom prst="rect">
            <a:avLst>
              <a:gd name="adj" fmla="val 18750"/>
            </a:avLst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6517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🔧 ToolRegistry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98094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InMemory / FeignToolBus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函数调用 + 权限检查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217920" y="731520"/>
            <a:ext cx="23774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731520"/>
            <a:ext cx="2377440" cy="292608"/>
          </a:xfrm>
          <a:prstGeom prst="rect">
            <a:avLst>
              <a:gd name="adj" fmla="val 1875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7315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Executor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106070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占位符替换 ${stepId.output}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风险拦截 CRITICAL 需审批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217920" y="1691640"/>
            <a:ext cx="23774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1691640"/>
            <a:ext cx="2377440" cy="292608"/>
          </a:xfrm>
          <a:prstGeom prst="rect">
            <a:avLst>
              <a:gd name="adj" fmla="val 18750"/>
            </a:avLst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16916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🛡️ Risk Guard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202082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LOW/MEDIUM/HIGH/CRITICAL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自动审批 or 人工确认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217920" y="2651760"/>
            <a:ext cx="23774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2651760"/>
            <a:ext cx="2377440" cy="292608"/>
          </a:xfrm>
          <a:prstGeom prst="rect">
            <a:avLst>
              <a:gd name="adj" fmla="val 18750"/>
            </a:avLst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26517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🔄 Monitor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298094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OpenTelemetry TraceId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全链路可观测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规划策略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397764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977640"/>
            <a:ext cx="2011680" cy="2560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9776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4279392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Reason + Act: Thought → Action → Observation → ...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606040" y="397764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06040" y="3977640"/>
            <a:ext cx="2011680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2606040" y="39776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697480" y="4279392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 of Thought: 分步推理链 (1+2+3=6)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54880" y="397764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3977640"/>
            <a:ext cx="201168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39776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46320" y="4279392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Tree of Thought: 多分支探索 + 评估剪枝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903720" y="397764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03720" y="3977640"/>
            <a:ext cx="201168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6" name="Text 44"/>
          <p:cNvSpPr/>
          <p:nvPr/>
        </p:nvSpPr>
        <p:spPr>
          <a:xfrm>
            <a:off x="6903720" y="39776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Reflexion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95160" y="4279392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自我反思: 失败后调整策略重新执行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向量嵌入与相似度检索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4114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85800"/>
            <a:ext cx="4114800" cy="411480"/>
          </a:xfrm>
          <a:prstGeom prst="roundRect">
            <a:avLst>
              <a:gd name="adj" fmla="val 22222"/>
            </a:avLst>
          </a:prstGeom>
          <a:solidFill>
            <a:srgbClr val="0891B2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960120"/>
            <a:ext cx="4114800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858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🔢 Embedding 模型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 文本 → 1536 维向量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 语义相似 → 向量距离近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1488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 Cosine Similarity: dot/(||a||·||b||)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 Bi-Encoder: 独立编码 doc/query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0632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🎖️  Cross-Encoder: 联合编码 (更精准)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3931920" cy="256032"/>
          </a:xfrm>
          <a:prstGeom prst="rect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6118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737360" y="36118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68880" y="3611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17520" y="36118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MTEB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913632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bge-large-zh-v1.5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737360" y="391363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68880" y="3913632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017520" y="391363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413308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BGE-M3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737360" y="413308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468880" y="4133088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017520" y="413308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435254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m3e-large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737360" y="4352544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468880" y="4352544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017520" y="435254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457200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jina-embeddings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737360" y="457200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1024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468880" y="4572000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一般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017520" y="457200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~64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63440" y="685800"/>
            <a:ext cx="4114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685800"/>
            <a:ext cx="4114800" cy="411480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/>
        </p:spPr>
      </p:sp>
      <p:sp>
        <p:nvSpPr>
          <p:cNvPr id="37" name="Shape 35"/>
          <p:cNvSpPr/>
          <p:nvPr/>
        </p:nvSpPr>
        <p:spPr>
          <a:xfrm>
            <a:off x="4663440" y="960120"/>
            <a:ext cx="4114800" cy="1645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4663440" y="6858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🗺️ HNSW 索引算法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754880" y="12618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 (稀疏)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724144" y="1408176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1" name="Shape 39"/>
          <p:cNvSpPr/>
          <p:nvPr/>
        </p:nvSpPr>
        <p:spPr>
          <a:xfrm>
            <a:off x="6547104" y="1408176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2" name="Shape 40"/>
          <p:cNvSpPr/>
          <p:nvPr/>
        </p:nvSpPr>
        <p:spPr>
          <a:xfrm>
            <a:off x="7370064" y="1408176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3" name="Text 41"/>
          <p:cNvSpPr/>
          <p:nvPr/>
        </p:nvSpPr>
        <p:spPr>
          <a:xfrm>
            <a:off x="6537960" y="16002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3AED"/>
                </a:solidFill>
              </a:rPr>
              <a:t>↓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54880" y="190195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(中等)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371447" y="2048256"/>
            <a:ext cx="256032" cy="25603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46" name="Shape 44"/>
          <p:cNvSpPr/>
          <p:nvPr/>
        </p:nvSpPr>
        <p:spPr>
          <a:xfrm>
            <a:off x="5841710" y="2048256"/>
            <a:ext cx="256032" cy="25603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47" name="Shape 45"/>
          <p:cNvSpPr/>
          <p:nvPr/>
        </p:nvSpPr>
        <p:spPr>
          <a:xfrm>
            <a:off x="6311973" y="2048256"/>
            <a:ext cx="256032" cy="25603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48" name="Shape 46"/>
          <p:cNvSpPr/>
          <p:nvPr/>
        </p:nvSpPr>
        <p:spPr>
          <a:xfrm>
            <a:off x="6782235" y="2048256"/>
            <a:ext cx="256032" cy="25603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49" name="Shape 47"/>
          <p:cNvSpPr/>
          <p:nvPr/>
        </p:nvSpPr>
        <p:spPr>
          <a:xfrm>
            <a:off x="7252498" y="2048256"/>
            <a:ext cx="256032" cy="25603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50" name="Shape 48"/>
          <p:cNvSpPr/>
          <p:nvPr/>
        </p:nvSpPr>
        <p:spPr>
          <a:xfrm>
            <a:off x="7722761" y="2048256"/>
            <a:ext cx="256032" cy="25603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51" name="Text 49"/>
          <p:cNvSpPr/>
          <p:nvPr/>
        </p:nvSpPr>
        <p:spPr>
          <a:xfrm>
            <a:off x="6537960" y="22402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3AED"/>
                </a:solidFill>
              </a:rPr>
              <a:t>↓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754880" y="25420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0 (全量)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154402" y="2688336"/>
            <a:ext cx="256032" cy="256032"/>
          </a:xfrm>
          <a:prstGeom prst="ellipse">
            <a:avLst/>
          </a:prstGeom>
          <a:solidFill>
            <a:srgbClr val="C4B5FD"/>
          </a:solidFill>
          <a:ln/>
        </p:spPr>
      </p:sp>
      <p:sp>
        <p:nvSpPr>
          <p:cNvPr id="54" name="Shape 52"/>
          <p:cNvSpPr/>
          <p:nvPr/>
        </p:nvSpPr>
        <p:spPr>
          <a:xfrm>
            <a:off x="5407621" y="2688336"/>
            <a:ext cx="256032" cy="256032"/>
          </a:xfrm>
          <a:prstGeom prst="ellipse">
            <a:avLst/>
          </a:prstGeom>
          <a:solidFill>
            <a:srgbClr val="C4B5FD"/>
          </a:solidFill>
          <a:ln/>
        </p:spPr>
      </p:sp>
      <p:sp>
        <p:nvSpPr>
          <p:cNvPr id="55" name="Shape 53"/>
          <p:cNvSpPr/>
          <p:nvPr/>
        </p:nvSpPr>
        <p:spPr>
          <a:xfrm>
            <a:off x="5660839" y="2688336"/>
            <a:ext cx="256032" cy="256032"/>
          </a:xfrm>
          <a:prstGeom prst="ellipse">
            <a:avLst/>
          </a:prstGeom>
          <a:solidFill>
            <a:srgbClr val="C4B5FD"/>
          </a:solidFill>
          <a:ln/>
        </p:spPr>
      </p:sp>
      <p:sp>
        <p:nvSpPr>
          <p:cNvPr id="56" name="Shape 54"/>
          <p:cNvSpPr/>
          <p:nvPr/>
        </p:nvSpPr>
        <p:spPr>
          <a:xfrm>
            <a:off x="5914058" y="2688336"/>
            <a:ext cx="256032" cy="256032"/>
          </a:xfrm>
          <a:prstGeom prst="ellipse">
            <a:avLst/>
          </a:prstGeom>
          <a:solidFill>
            <a:srgbClr val="C4B5FD"/>
          </a:solidFill>
          <a:ln/>
        </p:spPr>
      </p:sp>
      <p:sp>
        <p:nvSpPr>
          <p:cNvPr id="57" name="Shape 55"/>
          <p:cNvSpPr/>
          <p:nvPr/>
        </p:nvSpPr>
        <p:spPr>
          <a:xfrm>
            <a:off x="6167276" y="2688336"/>
            <a:ext cx="256032" cy="256032"/>
          </a:xfrm>
          <a:prstGeom prst="ellipse">
            <a:avLst/>
          </a:prstGeom>
          <a:solidFill>
            <a:srgbClr val="C4B5FD"/>
          </a:solidFill>
          <a:ln/>
        </p:spPr>
      </p:sp>
      <p:sp>
        <p:nvSpPr>
          <p:cNvPr id="58" name="Shape 56"/>
          <p:cNvSpPr/>
          <p:nvPr/>
        </p:nvSpPr>
        <p:spPr>
          <a:xfrm>
            <a:off x="6420495" y="2688336"/>
            <a:ext cx="256032" cy="256032"/>
          </a:xfrm>
          <a:prstGeom prst="ellipse">
            <a:avLst/>
          </a:prstGeom>
          <a:solidFill>
            <a:srgbClr val="C4B5FD"/>
          </a:solidFill>
          <a:ln/>
        </p:spPr>
      </p:sp>
      <p:sp>
        <p:nvSpPr>
          <p:cNvPr id="59" name="Shape 57"/>
          <p:cNvSpPr/>
          <p:nvPr/>
        </p:nvSpPr>
        <p:spPr>
          <a:xfrm>
            <a:off x="6673713" y="2688336"/>
            <a:ext cx="256032" cy="256032"/>
          </a:xfrm>
          <a:prstGeom prst="ellipse">
            <a:avLst/>
          </a:prstGeom>
          <a:solidFill>
            <a:srgbClr val="C4B5FD"/>
          </a:solidFill>
          <a:ln/>
        </p:spPr>
      </p:sp>
      <p:sp>
        <p:nvSpPr>
          <p:cNvPr id="60" name="Shape 58"/>
          <p:cNvSpPr/>
          <p:nvPr/>
        </p:nvSpPr>
        <p:spPr>
          <a:xfrm>
            <a:off x="6926932" y="2688336"/>
            <a:ext cx="256032" cy="256032"/>
          </a:xfrm>
          <a:prstGeom prst="ellipse">
            <a:avLst/>
          </a:prstGeom>
          <a:solidFill>
            <a:srgbClr val="C4B5FD"/>
          </a:solidFill>
          <a:ln/>
        </p:spPr>
      </p:sp>
      <p:sp>
        <p:nvSpPr>
          <p:cNvPr id="61" name="Shape 59"/>
          <p:cNvSpPr/>
          <p:nvPr/>
        </p:nvSpPr>
        <p:spPr>
          <a:xfrm>
            <a:off x="7180150" y="2688336"/>
            <a:ext cx="256032" cy="256032"/>
          </a:xfrm>
          <a:prstGeom prst="ellipse">
            <a:avLst/>
          </a:prstGeom>
          <a:solidFill>
            <a:srgbClr val="C4B5FD"/>
          </a:solidFill>
          <a:ln/>
        </p:spPr>
      </p:sp>
      <p:sp>
        <p:nvSpPr>
          <p:cNvPr id="62" name="Shape 60"/>
          <p:cNvSpPr/>
          <p:nvPr/>
        </p:nvSpPr>
        <p:spPr>
          <a:xfrm>
            <a:off x="7433369" y="2688336"/>
            <a:ext cx="256032" cy="256032"/>
          </a:xfrm>
          <a:prstGeom prst="ellipse">
            <a:avLst/>
          </a:prstGeom>
          <a:solidFill>
            <a:srgbClr val="C4B5FD"/>
          </a:solidFill>
          <a:ln/>
        </p:spPr>
      </p:sp>
      <p:sp>
        <p:nvSpPr>
          <p:cNvPr id="63" name="Shape 61"/>
          <p:cNvSpPr/>
          <p:nvPr/>
        </p:nvSpPr>
        <p:spPr>
          <a:xfrm>
            <a:off x="7686587" y="2688336"/>
            <a:ext cx="256032" cy="256032"/>
          </a:xfrm>
          <a:prstGeom prst="ellipse">
            <a:avLst/>
          </a:prstGeom>
          <a:solidFill>
            <a:srgbClr val="C4B5FD"/>
          </a:solidFill>
          <a:ln/>
        </p:spPr>
      </p:sp>
      <p:sp>
        <p:nvSpPr>
          <p:cNvPr id="64" name="Shape 62"/>
          <p:cNvSpPr/>
          <p:nvPr/>
        </p:nvSpPr>
        <p:spPr>
          <a:xfrm>
            <a:off x="7939806" y="2688336"/>
            <a:ext cx="256032" cy="256032"/>
          </a:xfrm>
          <a:prstGeom prst="ellipse">
            <a:avLst/>
          </a:prstGeom>
          <a:solidFill>
            <a:srgbClr val="C4B5FD"/>
          </a:solidFill>
          <a:ln/>
        </p:spPr>
      </p:sp>
      <p:sp>
        <p:nvSpPr>
          <p:cNvPr id="65" name="Text 63"/>
          <p:cNvSpPr/>
          <p:nvPr/>
        </p:nvSpPr>
        <p:spPr>
          <a:xfrm>
            <a:off x="4846320" y="329184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构建复杂度: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492240" y="329184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O(N log N)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846320" y="356616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查询复杂度: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492240" y="356616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O(log N)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846320" y="384048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搜索策略: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492240" y="384048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贪心 + 剪枝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4846320" y="411480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(连接数):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492240" y="411480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16-64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846320" y="438912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efSearch: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492240" y="438912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100-500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Function Calling 工具调用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27432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795528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795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84124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用户提问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252728"/>
            <a:ext cx="2468880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34416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北京今天天气如何？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108960" y="1389888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46120" y="658368"/>
            <a:ext cx="27432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240">
            <a:solidFill>
              <a:srgbClr val="6366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795528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795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04488" y="84124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意图识别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83280" y="1252728"/>
            <a:ext cx="2468880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134416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判断需调用工具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89320" y="1389888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26480" y="658368"/>
            <a:ext cx="27432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795528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795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84848" y="84124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函数选择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1252728"/>
            <a:ext cx="2468880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134416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{name: get_weather, args: {city: 北京}}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2670048"/>
            <a:ext cx="27432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2807208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2807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24128" y="285292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⚙️ 执行函数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" y="3264408"/>
            <a:ext cx="2468880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35584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weather_api(city='北京') → 25°C 晴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108960" y="3401568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246120" y="2670048"/>
            <a:ext cx="27432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3280" y="2807208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4" name="Text 32"/>
          <p:cNvSpPr/>
          <p:nvPr/>
        </p:nvSpPr>
        <p:spPr>
          <a:xfrm>
            <a:off x="3383280" y="2807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904488" y="285292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📥 结果注入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383280" y="3264408"/>
            <a:ext cx="2468880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Text 35"/>
          <p:cNvSpPr/>
          <p:nvPr/>
        </p:nvSpPr>
        <p:spPr>
          <a:xfrm>
            <a:off x="3383280" y="335584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函数结果注入 Prompt 上下文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989320" y="3401568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26480" y="2670048"/>
            <a:ext cx="27432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63640" y="2807208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1" name="Text 39"/>
          <p:cNvSpPr/>
          <p:nvPr/>
        </p:nvSpPr>
        <p:spPr>
          <a:xfrm>
            <a:off x="6263640" y="2807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784848" y="285292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最终回答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263640" y="3264408"/>
            <a:ext cx="2468880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4" name="Text 42"/>
          <p:cNvSpPr/>
          <p:nvPr/>
        </p:nvSpPr>
        <p:spPr>
          <a:xfrm>
            <a:off x="6263640" y="335584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北京今天 25°C，天气晴朗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160520" y="2331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↓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65760" y="4572000"/>
            <a:ext cx="8412480" cy="384048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"name": "get_weather", "description": "获取城市天气", "parameters": { "type": "object", "properties": { "city": { "type": "string" } }, "required": ["city"] } }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Prompt 工程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4114800" cy="416052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58368"/>
            <a:ext cx="411480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83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结构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078992"/>
            <a:ext cx="3840480" cy="1005840"/>
          </a:xfrm>
          <a:prstGeom prst="roundRect">
            <a:avLst>
              <a:gd name="adj" fmla="val 4545"/>
            </a:avLst>
          </a:prstGeom>
          <a:solidFill>
            <a:srgbClr val="7C3AED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13385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335024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你是一个专业的Java后端工程师，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简洁、注重实践、避免废话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2920" y="2194560"/>
            <a:ext cx="3840480" cy="1554480"/>
          </a:xfrm>
          <a:prstGeom prst="roundRect">
            <a:avLst>
              <a:gd name="adj" fmla="val 2941"/>
            </a:avLst>
          </a:prstGeom>
          <a:solidFill>
            <a:srgbClr val="3B82F6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24942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450592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如何实现异步？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完整代码示例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关键注解解释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注意事项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" y="3858768"/>
            <a:ext cx="3840480" cy="1005840"/>
          </a:xfrm>
          <a:prstGeom prst="roundRect">
            <a:avLst>
              <a:gd name="adj" fmla="val 4545"/>
            </a:avLst>
          </a:prstGeom>
          <a:solidFill>
            <a:srgbClr val="059669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91363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41148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（LLM 生成回复区域）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@Async + @EnableAsync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CompletableFuture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TaskExecutor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658368"/>
            <a:ext cx="4114800" cy="416052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658368"/>
            <a:ext cx="4114800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6583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核心策略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078992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1078992"/>
            <a:ext cx="64008" cy="8412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113385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89320" y="1133856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注入示例引导输出格式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92040" y="13716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示例: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'天气好' → 正面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'心情差' → 负面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'吃了饭' → ?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754880" y="2011680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011680"/>
            <a:ext cx="64008" cy="8412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06654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89320" y="2066544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 of Thought 推理链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92040" y="230428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请分步回答: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1: ...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2: ...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Final: ...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54880" y="2944368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2944368"/>
            <a:ext cx="64008" cy="8412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299923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89320" y="2999232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温度控制随机性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92040" y="323697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T=0.0: 确定性 (代码/数学)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T=0.7: 创意 (写作/头脑风暴)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T&gt;1.0: 高随机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54880" y="3877056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877056"/>
            <a:ext cx="64008" cy="8412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393192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Top-P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89320" y="3931920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核采样替代纯温度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92040" y="416966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Nucleus Sampling: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只采样累积概率 &gt; 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(通常 P=0.9) 的 token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0891B2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平台实现 + 知识图谱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2286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09728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FFFFFF">
              <a:alpha val="90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🏗️ 平台架构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6642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Spring Cloud Gateway → Nacos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1214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ONNX Runtime 自研推理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5786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OpenTelemetry 全链路追踪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30358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RAG: Milvus / H2 Fallback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34930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JWT (15min) + Refresh (7d)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109728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FFFFFF">
              <a:alpha val="90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2344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🔬 核心算法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16642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Transformer: Multi-Head + RoPE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83280" y="21214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RLHF: Reward Model + PPO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83280" y="25786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DPO: 直接偏好优化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83280" y="30358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HNSW: ANN 向量索引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83280" y="34930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RRF: 多检索结果融合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6480" y="109728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FFFFFF">
              <a:alpha val="90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12344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数学基础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63640" y="16642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Attention: QKᵀ/√d · V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63640" y="21214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Embedding: cosine similarity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63640" y="25786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LoRA: ΔW = A · B (低秩)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63640" y="30358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Loss: -log P(token_t)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63640" y="34930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Scaling: Loss ∝ N^α + D^β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2519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65760" y="464515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自研推理引擎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121408" y="42519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HNSW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2121408" y="464515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向量索引算法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877056" y="42519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RLHF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877056" y="464515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人类反馈对齐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632704" y="42519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632704" y="464515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检索增强生成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388352" y="42519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388352" y="464515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智能体编排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大模型技术详解 - LLM 原理 · 训练流程 · RAG · Agent</dc:title>
  <dc:subject>大模型知识点全面讲解</dc:subject>
  <dc:creator>MiniMax Platform</dc:creator>
  <cp:lastModifiedBy>MiniMax Platform</cp:lastModifiedBy>
  <cp:revision>1</cp:revision>
  <dcterms:created xsi:type="dcterms:W3CDTF">2026-08-11T03:11:27Z</dcterms:created>
  <dcterms:modified xsi:type="dcterms:W3CDTF">2026-08-11T03:11:27Z</dcterms:modified>
</cp:coreProperties>
</file>
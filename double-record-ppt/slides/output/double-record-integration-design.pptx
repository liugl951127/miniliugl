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54864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91440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128016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83680" y="1645920"/>
            <a:ext cx="23774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RECORD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线上线下双录一体化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 · 互通 · 质检统一 · 流程一致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9144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痛点驱动的端到端方案设计 · 适用于领导汇报与业务知识掌控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80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汇报人:[姓名]    |    汇报日期:2026 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640080"/>
            <a:ext cx="1371600" cy="292608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640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合规升级方案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spc="6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864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4023360" cy="685800"/>
          </a:xfrm>
          <a:prstGeom prst="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64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25880" y="17647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线上线下双录现状与 5 大核心痛点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023360" cy="685800"/>
          </a:xfrm>
          <a:prstGeom prst="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68880"/>
            <a:ext cx="73152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25880" y="2542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分层架构设计与 5 大能力中心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4023360" cy="685800"/>
          </a:xfrm>
          <a:prstGeom prst="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46120"/>
            <a:ext cx="73152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19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25880" y="331927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核心方案设计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话术互通 / 双录合规 / 智能质检 / 数据一致性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691640"/>
            <a:ext cx="4023360" cy="685800"/>
          </a:xfrm>
          <a:prstGeom prst="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4663440" y="1691640"/>
            <a:ext cx="73152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76479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32120" y="17647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2057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保险/理财/基金/风评全场景话术样例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468880"/>
            <a:ext cx="4023360" cy="685800"/>
          </a:xfrm>
          <a:prstGeom prst="rect">
            <a:avLst>
              <a:gd name="adj" fmla="val 6667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468880"/>
            <a:ext cx="73152" cy="6858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54203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532120" y="254203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价值与细节点标注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3212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痛点闭环 · 客户价值 · 汇报用标注表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痛点分析:线上 vs 线下双录现状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858000" y="457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3931920" cy="3474720"/>
          </a:xfrm>
          <a:prstGeom prst="rect">
            <a:avLst>
              <a:gd name="adj" fmla="val 1316"/>
            </a:avLst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3931920" cy="45720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线上双录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6596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话术版本多,产品迭代后线上线下不同步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56032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音视频规范严格,但流程中断后无统一恢复机制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017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质检覆盖率高,但规则版本与线下不统一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74904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数据流转于线上系统,与线下 CRM/核心系统割裂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3931920" cy="3474720"/>
          </a:xfrm>
          <a:prstGeom prst="rect">
            <a:avLst>
              <a:gd name="adj" fmla="val 1316"/>
            </a:avLst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188720"/>
            <a:ext cx="3931920" cy="457200"/>
          </a:xfrm>
          <a:prstGeom prst="rect">
            <a:avLst>
              <a:gd name="adj" fmla="val 10000"/>
            </a:avLst>
          </a:prstGeom>
          <a:solidFill>
            <a:srgbClr val="8D99AE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线下双录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196596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18288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依赖人工背诵话术,话术执行偏差大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56032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视频合规性依赖设备型号,文件易篡改/丢失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315468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5166360" y="3017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质检以人工抽检为主,覆盖率低、时效差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3749040"/>
            <a:ext cx="109728" cy="109728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516636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纸质单据 + U 盘拷视频,数据易不一致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1】线上线下的根本矛盾是「流程载体不同」,方案必须从「载体」层面拉通,而非「话术」层面补丁。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整体架构:线上线下双录一体化平台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ARCHITECTURE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1371600" cy="594360"/>
          </a:xfrm>
          <a:prstGeom prst="rect">
            <a:avLst>
              <a:gd name="adj" fmla="val 4615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1097280"/>
            <a:ext cx="246888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1097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H5/小程序 | 线下双录一体机 | PAD 移动展业 | 网点 PC 端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1371600" cy="594360"/>
          </a:xfrm>
          <a:prstGeom prst="rect">
            <a:avLst>
              <a:gd name="adj" fmla="val 4615"/>
            </a:avLst>
          </a:prstGeom>
          <a:solidFill>
            <a:srgbClr val="1F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105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流程编排层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1810512"/>
            <a:ext cx="246888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1920240" y="181051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统一流程引擎 BPMN | 状态机 | 异常分支 | 回退补偿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1371600" cy="594360"/>
          </a:xfrm>
          <a:prstGeom prst="rect">
            <a:avLst>
              <a:gd name="adj" fmla="val 4615"/>
            </a:avLst>
          </a:prstGeom>
          <a:solidFill>
            <a:srgbClr val="2B5C8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523744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能力中台层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828800" y="2523744"/>
            <a:ext cx="246888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252374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话术中心 | 双录引擎 | 智能质检 | 电子签 | 视频合规 | 风评引擎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1371600" cy="594360"/>
          </a:xfrm>
          <a:prstGeom prst="rect">
            <a:avLst>
              <a:gd name="adj" fmla="val 4615"/>
            </a:avLst>
          </a:prstGeom>
          <a:solidFill>
            <a:srgbClr val="3D7EB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236976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数据治理层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828800" y="3236976"/>
            <a:ext cx="246888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32369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统一订单中心 | 分布式事务 | 客户主数据 | 影像存证 | 审计追溯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1371600" cy="594360"/>
          </a:xfrm>
          <a:prstGeom prst="rect">
            <a:avLst>
              <a:gd name="adj" fmla="val 4615"/>
            </a:avLst>
          </a:prstGeom>
          <a:solidFill>
            <a:srgbClr val="5A9BD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50208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基础底座层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3950208"/>
            <a:ext cx="2468880" cy="594360"/>
          </a:xfrm>
          <a:prstGeom prst="rect">
            <a:avLst>
              <a:gd name="adj" fmla="val 4615"/>
            </a:avLst>
          </a:prstGeom>
          <a:solidFill>
            <a:srgbClr val="EDF2F4"/>
          </a:solidFill>
          <a:ln/>
        </p:spPr>
      </p:sp>
      <p:sp>
        <p:nvSpPr>
          <p:cNvPr id="25" name="Text 23"/>
          <p:cNvSpPr/>
          <p:nvPr/>
        </p:nvSpPr>
        <p:spPr>
          <a:xfrm>
            <a:off x="1920240" y="395020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统一身份/权限 | 消息中间件 | 对象存储 OSS | 国密加密 | 监管上报通道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4114800" cy="3657600"/>
          </a:xfrm>
          <a:prstGeom prst="rect">
            <a:avLst>
              <a:gd name="adj" fmla="val 1250"/>
            </a:avLst>
          </a:prstGeom>
          <a:solidFill>
            <a:srgbClr val="EDF2F4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1097280"/>
            <a:ext cx="4114800" cy="457200"/>
          </a:xfrm>
          <a:prstGeom prst="rect">
            <a:avLst>
              <a:gd name="adj" fmla="val 10000"/>
            </a:avLst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横切能力(贯穿所有层)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73736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统一话术中心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19385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话术/风险点/产品参数/合规要点统一管理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28600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智能质检引擎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+ ASR/NLP/情绪 多模态 AI 质检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0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全链路追踪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29200" y="30358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从预约 → 双录 → 签单 → 归档全链路埋点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338328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337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合规审计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29200" y="35844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监管接口直连 · 全量留痕 · 可回放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931920"/>
            <a:ext cx="164592" cy="164592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可视化运营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管理者驾驶舱 · 实时大屏 · 异常告警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2】架构核心是「流程编排 + 能力中台 + 数据治理」三层解耦,任何接入端都共享同一份业务逻辑。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方案一:统一话术中心 - 解决「话术互通」痛点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01/5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>
              <a:gd name="adj" fmla="val 7500"/>
            </a:avLst>
          </a:prstGeom>
          <a:solidFill>
            <a:srgbClr val="D9042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【痛点 1】线上/线下两套话术,产品迭代后不同步,口径不一致引发监管风险。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920240" cy="1463040"/>
          </a:xfrm>
          <a:prstGeom prst="rect">
            <a:avLst>
              <a:gd name="adj" fmla="val 3125"/>
            </a:avLst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话术建模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原子化拆解:问候/产品介绍/风险揭示/确认/结束,每个节点独立配置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2395728" y="2194560"/>
            <a:ext cx="128016" cy="164592"/>
          </a:xfrm>
          <a:prstGeom prst="rtTriangle">
            <a:avLst/>
          </a:prstGeom>
          <a:solidFill>
            <a:srgbClr val="D90429"/>
          </a:solidFill>
          <a:ln/>
        </p:spPr>
      </p:sp>
      <p:sp>
        <p:nvSpPr>
          <p:cNvPr id="13" name="Shape 11"/>
          <p:cNvSpPr/>
          <p:nvPr/>
        </p:nvSpPr>
        <p:spPr>
          <a:xfrm>
            <a:off x="2542032" y="1554480"/>
            <a:ext cx="1920240" cy="1463040"/>
          </a:xfrm>
          <a:prstGeom prst="rect">
            <a:avLst>
              <a:gd name="adj" fmla="val 3125"/>
            </a:avLst>
          </a:prstGeom>
          <a:solidFill>
            <a:srgbClr val="EDF2F4"/>
          </a:solidFill>
          <a:ln/>
        </p:spPr>
      </p:sp>
      <p:sp>
        <p:nvSpPr>
          <p:cNvPr id="14" name="Shape 12"/>
          <p:cNvSpPr/>
          <p:nvPr/>
        </p:nvSpPr>
        <p:spPr>
          <a:xfrm>
            <a:off x="2724912" y="17373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272491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679192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79192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按产品+监管版本+生效日期管理,自动灰度,旧版本可回溯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480560" y="2194560"/>
            <a:ext cx="128016" cy="164592"/>
          </a:xfrm>
          <a:prstGeom prst="rtTriangle">
            <a:avLst/>
          </a:prstGeom>
          <a:solidFill>
            <a:srgbClr val="D90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4626864" y="1554480"/>
            <a:ext cx="1920240" cy="1463040"/>
          </a:xfrm>
          <a:prstGeom prst="rect">
            <a:avLst>
              <a:gd name="adj" fmla="val 3125"/>
            </a:avLst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809744" y="17373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974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64024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统一推送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64024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SDK / 线下一体机统一拉取同一份话术,MD5 校验防篡改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 rot="5400000">
            <a:off x="6565392" y="2194560"/>
            <a:ext cx="128016" cy="164592"/>
          </a:xfrm>
          <a:prstGeom prst="rtTriangle">
            <a:avLst/>
          </a:prstGeom>
          <a:solidFill>
            <a:srgbClr val="D90429"/>
          </a:solidFill>
          <a:ln/>
        </p:spPr>
      </p:sp>
      <p:sp>
        <p:nvSpPr>
          <p:cNvPr id="25" name="Shape 23"/>
          <p:cNvSpPr/>
          <p:nvPr/>
        </p:nvSpPr>
        <p:spPr>
          <a:xfrm>
            <a:off x="6711696" y="1554480"/>
            <a:ext cx="1920240" cy="1463040"/>
          </a:xfrm>
          <a:prstGeom prst="rect">
            <a:avLst>
              <a:gd name="adj" fmla="val 3125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6894576" y="173736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7" name="Text 25"/>
          <p:cNvSpPr/>
          <p:nvPr/>
        </p:nvSpPr>
        <p:spPr>
          <a:xfrm>
            <a:off x="689457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48856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强制执行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48856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话术节点必读必答,跳过即阻断,事后 100% 回放校验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8229600" cy="1463040"/>
          </a:xfrm>
          <a:prstGeom prst="rect">
            <a:avLst>
              <a:gd name="adj" fmla="val 3125"/>
            </a:avLst>
          </a:prstGeom>
          <a:solidFill>
            <a:srgbClr val="EDF2F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话术原子化样例(以保险产品为例)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611880"/>
            <a:ext cx="1005840" cy="18288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6118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 问候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737360" y="36118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您好,我是 XX 银行客户经理,本次双录将全程录音录像,请问您同意吗?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3813048"/>
            <a:ext cx="1005840" cy="18288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8130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 身份核验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737360" y="3813048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请出示身份证,我将与您一同核对姓名、证件号、有效期。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40080" y="4014216"/>
            <a:ext cx="1005840" cy="18288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0142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N3 风险揭示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737360" y="4014216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本产品为分红型保险,收益不确定,可能低于演示,您是否充分理解?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4215384"/>
            <a:ext cx="1005840" cy="18288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21538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N4 犹豫期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737360" y="421538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您享有 15 天犹豫期,期间退保仅扣除不超过 10 元工本费,是否知晓?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" y="4416552"/>
            <a:ext cx="1005840" cy="18288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416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N5 确认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737360" y="441655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以上内容均为您的真实意愿表达,是否确认投保?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3】关键设计:话术原子化(N1~Nn)+强制确认位,任何节点未通过则流程不可继续。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方案二:全场景双录合规 - 解决「视频合规性」痛点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94944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02/5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>
              <a:gd name="adj" fmla="val 7500"/>
            </a:avLst>
          </a:prstGeom>
          <a:solidFill>
            <a:srgbClr val="D9042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【痛点 2】线下视频易篡改/丢失/介质不一,合规证据链不完整。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06040" cy="2011680"/>
          </a:xfrm>
          <a:prstGeom prst="rect">
            <a:avLst>
              <a:gd name="adj" fmla="val 2273"/>
            </a:avLst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08760"/>
            <a:ext cx="2606040" cy="548640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线上双录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304288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94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 SDK 内嵌,边录边传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15184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054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实时水印 + 时间戳(可信时间)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断点续传,失败自动重连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双流(人脸 + 凭证)同步录制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1508760"/>
            <a:ext cx="2606040" cy="2011680"/>
          </a:xfrm>
          <a:prstGeom prst="rect">
            <a:avLst>
              <a:gd name="adj" fmla="val 2273"/>
            </a:avLst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264408" y="1508760"/>
            <a:ext cx="2606040" cy="548640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401568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87368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线下一体机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47288" y="2304288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4" name="Text 22"/>
          <p:cNvSpPr/>
          <p:nvPr/>
        </p:nvSpPr>
        <p:spPr>
          <a:xfrm>
            <a:off x="3584448" y="2194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嵌入式定制设备,防拆卸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47288" y="2615184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6" name="Text 24"/>
          <p:cNvSpPr/>
          <p:nvPr/>
        </p:nvSpPr>
        <p:spPr>
          <a:xfrm>
            <a:off x="3584448" y="25054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本地暂存 + 4G 实时回传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47288" y="2926080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8" name="Text 26"/>
          <p:cNvSpPr/>
          <p:nvPr/>
        </p:nvSpPr>
        <p:spPr>
          <a:xfrm>
            <a:off x="3584448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国密 SM4 加密芯片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47288" y="3236976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3584448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活体检测 + 证件 OCR 联动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1508760"/>
            <a:ext cx="2606040" cy="2011680"/>
          </a:xfrm>
          <a:prstGeom prst="rect">
            <a:avLst>
              <a:gd name="adj" fmla="val 2273"/>
            </a:avLst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6071616" y="1508760"/>
            <a:ext cx="2606040" cy="548640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33" name="Text 31"/>
          <p:cNvSpPr/>
          <p:nvPr/>
        </p:nvSpPr>
        <p:spPr>
          <a:xfrm>
            <a:off x="6208776" y="15544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94576" y="150876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移动展业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54496" y="2304288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6" name="Text 34"/>
          <p:cNvSpPr/>
          <p:nvPr/>
        </p:nvSpPr>
        <p:spPr>
          <a:xfrm>
            <a:off x="6391656" y="21945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PAD/手机端 APP 内置双录 SDK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54496" y="2615184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6391656" y="250545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客户经理外拓(社区/上门)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54496" y="2926080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0" name="Text 38"/>
          <p:cNvSpPr/>
          <p:nvPr/>
        </p:nvSpPr>
        <p:spPr>
          <a:xfrm>
            <a:off x="6391656" y="28163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GPS + WIFI 定位佐证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54496" y="3236976"/>
            <a:ext cx="73152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2" name="Text 40"/>
          <p:cNvSpPr/>
          <p:nvPr/>
        </p:nvSpPr>
        <p:spPr>
          <a:xfrm>
            <a:off x="6391656" y="31272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完成后立即加密上传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657600"/>
            <a:ext cx="8229600" cy="1005840"/>
          </a:xfrm>
          <a:prstGeom prst="rect">
            <a:avLst>
              <a:gd name="adj" fmla="val 4545"/>
            </a:avLst>
          </a:prstGeom>
          <a:solidFill>
            <a:srgbClr val="2B2D42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合规证据链:全链路加密 + 区块链存证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40080" y="4114800"/>
            <a:ext cx="118872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录制采集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783080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920240" y="4114800"/>
            <a:ext cx="118872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49" name="Text 47"/>
          <p:cNvSpPr/>
          <p:nvPr/>
        </p:nvSpPr>
        <p:spPr>
          <a:xfrm>
            <a:off x="192024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SM4 加密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063240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200400" y="4114800"/>
            <a:ext cx="118872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OSS 存储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343400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480560" y="4114800"/>
            <a:ext cx="118872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55" name="Text 53"/>
          <p:cNvSpPr/>
          <p:nvPr/>
        </p:nvSpPr>
        <p:spPr>
          <a:xfrm>
            <a:off x="448056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SHA256 指纹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23560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5760720" y="4114800"/>
            <a:ext cx="118872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58" name="Text 56"/>
          <p:cNvSpPr/>
          <p:nvPr/>
        </p:nvSpPr>
        <p:spPr>
          <a:xfrm>
            <a:off x="576072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903720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040880" y="4114800"/>
            <a:ext cx="1188720" cy="365760"/>
          </a:xfrm>
          <a:prstGeom prst="rect">
            <a:avLst>
              <a:gd name="adj" fmla="val 12500"/>
            </a:avLst>
          </a:prstGeom>
          <a:solidFill>
            <a:srgbClr val="D90429"/>
          </a:solidFill>
          <a:ln/>
        </p:spPr>
      </p:sp>
      <p:sp>
        <p:nvSpPr>
          <p:cNvPr id="61" name="Text 59"/>
          <p:cNvSpPr/>
          <p:nvPr/>
        </p:nvSpPr>
        <p:spPr>
          <a:xfrm>
            <a:off x="704088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监管上报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4】合规要点:视频/音频/签名/凭证必须「同帧同步同存」,时间戳以国家授时中心为准。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方案三:智能质检引擎 - 解决「质检一致性」痛点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03/5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>
              <a:gd name="adj" fmla="val 7500"/>
            </a:avLst>
          </a:prstGeom>
          <a:solidFill>
            <a:srgbClr val="D9042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【痛点 3】线上 AI 质检、线下人工抽检,两套标准两套结果,无法闭环。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三层质检流水线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931920" cy="777240"/>
          </a:xfrm>
          <a:prstGeom prst="rect">
            <a:avLst>
              <a:gd name="adj" fmla="val 5882"/>
            </a:avLst>
          </a:prstGeom>
          <a:solidFill>
            <a:srgbClr val="EDF2F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2880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01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规则层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1920240"/>
            <a:ext cx="731520" cy="237744"/>
          </a:xfrm>
          <a:prstGeom prst="rect">
            <a:avLst>
              <a:gd name="adj" fmla="val 11538"/>
            </a:avLst>
          </a:prstGeom>
          <a:solidFill>
            <a:srgbClr val="2B2D42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92024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0.5s 内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 规则模板:必读项、必答项、必签字、风险点关键词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3931920" cy="777240"/>
          </a:xfrm>
          <a:prstGeom prst="rect">
            <a:avLst>
              <a:gd name="adj" fmla="val 5882"/>
            </a:avLst>
          </a:prstGeom>
          <a:solidFill>
            <a:srgbClr val="EDF2F4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69748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70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AI 智能层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66160" y="2788920"/>
            <a:ext cx="731520" cy="237744"/>
          </a:xfrm>
          <a:prstGeom prst="rect">
            <a:avLst>
              <a:gd name="adj" fmla="val 11538"/>
            </a:avLst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7889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30s 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ASR 转写 + NLP 意图识别 + 情感分析 + 图像识别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931920" cy="777240"/>
          </a:xfrm>
          <a:prstGeom prst="rect">
            <a:avLst>
              <a:gd name="adj" fmla="val 5882"/>
            </a:avLst>
          </a:prstGeom>
          <a:solidFill>
            <a:srgbClr val="ED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566160"/>
            <a:ext cx="73152" cy="77724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人工复核层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66160" y="3657600"/>
            <a:ext cx="731520" cy="237744"/>
          </a:xfrm>
          <a:prstGeom prst="rect">
            <a:avLst>
              <a:gd name="adj" fmla="val 11538"/>
            </a:avLst>
          </a:prstGeom>
          <a:solidFill>
            <a:srgbClr val="2B2D42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3657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T+1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高风险单 100% 复检,中风险按比例,低风险 AI 自闭环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统一质检评分卡(线上/线下同模板)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63440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话术完整度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1920240"/>
            <a:ext cx="1645920" cy="91440"/>
          </a:xfrm>
          <a:prstGeom prst="rect">
            <a:avLst>
              <a:gd name="adj" fmla="val 50000"/>
            </a:avLst>
          </a:prstGeom>
          <a:solidFill>
            <a:srgbClr val="EDF2F4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1920240"/>
            <a:ext cx="1645920" cy="91440"/>
          </a:xfrm>
          <a:prstGeom prst="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风险揭示准确度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2331720"/>
            <a:ext cx="1645920" cy="91440"/>
          </a:xfrm>
          <a:prstGeom prst="rect">
            <a:avLst>
              <a:gd name="adj" fmla="val 50000"/>
            </a:avLst>
          </a:prstGeom>
          <a:solidFill>
            <a:srgbClr val="EDF2F4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2331720"/>
            <a:ext cx="1371600" cy="91440"/>
          </a:xfrm>
          <a:prstGeom prst="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34" name="Text 32"/>
          <p:cNvSpPr/>
          <p:nvPr/>
        </p:nvSpPr>
        <p:spPr>
          <a:xfrm>
            <a:off x="8046720" y="2240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客户确认清晰度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2743200"/>
            <a:ext cx="1645920" cy="91440"/>
          </a:xfrm>
          <a:prstGeom prst="rect">
            <a:avLst>
              <a:gd name="adj" fmla="val 50000"/>
            </a:avLst>
          </a:prstGeom>
          <a:solidFill>
            <a:srgbClr val="EDF2F4"/>
          </a:solidFill>
          <a:ln/>
        </p:spPr>
      </p:sp>
      <p:sp>
        <p:nvSpPr>
          <p:cNvPr id="37" name="Shape 35"/>
          <p:cNvSpPr/>
          <p:nvPr/>
        </p:nvSpPr>
        <p:spPr>
          <a:xfrm>
            <a:off x="6355080" y="2743200"/>
            <a:ext cx="1097280" cy="91440"/>
          </a:xfrm>
          <a:prstGeom prst="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0" y="2651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6344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音视频合规度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55080" y="3154680"/>
            <a:ext cx="1645920" cy="91440"/>
          </a:xfrm>
          <a:prstGeom prst="rect">
            <a:avLst>
              <a:gd name="adj" fmla="val 50000"/>
            </a:avLst>
          </a:prstGeom>
          <a:solidFill>
            <a:srgbClr val="EDF2F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55080" y="3154680"/>
            <a:ext cx="822960" cy="91440"/>
          </a:xfrm>
          <a:prstGeom prst="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3063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6344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流程完整度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3566160"/>
            <a:ext cx="1645920" cy="91440"/>
          </a:xfrm>
          <a:prstGeom prst="rect">
            <a:avLst>
              <a:gd name="adj" fmla="val 50000"/>
            </a:avLst>
          </a:prstGeom>
          <a:solidFill>
            <a:srgbClr val="EDF2F4"/>
          </a:solidFill>
          <a:ln/>
        </p:spPr>
      </p:sp>
      <p:sp>
        <p:nvSpPr>
          <p:cNvPr id="45" name="Shape 43"/>
          <p:cNvSpPr/>
          <p:nvPr/>
        </p:nvSpPr>
        <p:spPr>
          <a:xfrm>
            <a:off x="6355080" y="3566160"/>
            <a:ext cx="548640" cy="91440"/>
          </a:xfrm>
          <a:prstGeom prst="rect">
            <a:avLst>
              <a:gd name="adj" fmla="val 50000"/>
            </a:avLst>
          </a:prstGeom>
          <a:solidFill>
            <a:srgbClr val="D90429"/>
          </a:solidFill>
          <a:ln/>
        </p:spPr>
      </p:sp>
      <p:sp>
        <p:nvSpPr>
          <p:cNvPr id="46" name="Text 44"/>
          <p:cNvSpPr/>
          <p:nvPr/>
        </p:nvSpPr>
        <p:spPr>
          <a:xfrm>
            <a:off x="804672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663440" y="3931920"/>
            <a:ext cx="4023360" cy="731520"/>
          </a:xfrm>
          <a:prstGeom prst="rect">
            <a:avLst>
              <a:gd name="adj" fmla="val 6250"/>
            </a:avLst>
          </a:prstGeom>
          <a:solidFill>
            <a:srgbClr val="2B2D42"/>
          </a:solidFill>
          <a:ln/>
        </p:spPr>
      </p:sp>
      <p:sp>
        <p:nvSpPr>
          <p:cNvPr id="48" name="Shape 46"/>
          <p:cNvSpPr/>
          <p:nvPr/>
        </p:nvSpPr>
        <p:spPr>
          <a:xfrm>
            <a:off x="4754880" y="4023360"/>
            <a:ext cx="182880" cy="1828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49" name="Text 47"/>
          <p:cNvSpPr/>
          <p:nvPr/>
        </p:nvSpPr>
        <p:spPr>
          <a:xfrm>
            <a:off x="498348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高分(&gt;=90)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自动归档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4023360"/>
            <a:ext cx="182880" cy="18288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52" name="Text 50"/>
          <p:cNvSpPr/>
          <p:nvPr/>
        </p:nvSpPr>
        <p:spPr>
          <a:xfrm>
            <a:off x="630936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中分(70-89)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8076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标记 + 抽检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06640" y="4023360"/>
            <a:ext cx="182880" cy="1828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5" name="Text 53"/>
          <p:cNvSpPr/>
          <p:nvPr/>
        </p:nvSpPr>
        <p:spPr>
          <a:xfrm>
            <a:off x="7635240" y="3977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低分(&lt;70)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4297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 100% 复检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5】关键设计:线上/线下质检「同一份规则 + 同一套模型 + 同一张评分卡」,结果可比、可对账。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方案四:数据一致性 - 解决「流程原子性」痛点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 04/5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65760"/>
          </a:xfrm>
          <a:prstGeom prst="rect">
            <a:avLst>
              <a:gd name="adj" fmla="val 7500"/>
            </a:avLst>
          </a:prstGeom>
          <a:solidFill>
            <a:srgbClr val="D90429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【痛点 4】双录视频、订单、合同、CRM 状态分散,任一环节失败导致数据不一致。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双录订单状态机(全流程原子化)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已预约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17904" y="1920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09344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8D99AE"/>
          </a:solidFill>
          <a:ln/>
        </p:spPr>
      </p:sp>
      <p:sp>
        <p:nvSpPr>
          <p:cNvPr id="13" name="Text 11"/>
          <p:cNvSpPr/>
          <p:nvPr/>
        </p:nvSpPr>
        <p:spPr>
          <a:xfrm>
            <a:off x="1609344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9344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客户已核验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0048" y="1920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61488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8D99AE"/>
          </a:solidFill>
          <a:ln/>
        </p:spPr>
      </p:sp>
      <p:sp>
        <p:nvSpPr>
          <p:cNvPr id="17" name="Text 15"/>
          <p:cNvSpPr/>
          <p:nvPr/>
        </p:nvSpPr>
        <p:spPr>
          <a:xfrm>
            <a:off x="2761488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61488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话术执行中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22192" y="1920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13632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3913632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13632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视频录制中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74336" y="1920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65776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5065776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65776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电子签约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920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7920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2A9D8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质检通过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78624" y="1920240"/>
            <a:ext cx="109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370064" y="1920240"/>
            <a:ext cx="1078992" cy="640080"/>
          </a:xfrm>
          <a:prstGeom prst="rect">
            <a:avLst>
              <a:gd name="adj" fmla="val 7143"/>
            </a:avLst>
          </a:prstGeom>
          <a:solidFill>
            <a:srgbClr val="D90429"/>
          </a:solidFill>
          <a:ln/>
        </p:spPr>
      </p:sp>
      <p:sp>
        <p:nvSpPr>
          <p:cNvPr id="33" name="Text 31"/>
          <p:cNvSpPr/>
          <p:nvPr/>
        </p:nvSpPr>
        <p:spPr>
          <a:xfrm>
            <a:off x="7370064" y="193852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70064" y="2148840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订单完成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2743200"/>
            <a:ext cx="8229600" cy="1828800"/>
          </a:xfrm>
          <a:prstGeom prst="rect">
            <a:avLst>
              <a:gd name="adj" fmla="val 2500"/>
            </a:avLst>
          </a:prstGeom>
          <a:solidFill>
            <a:srgbClr val="EDF2F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分布式事务:Saga + 状态机补偿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200400"/>
            <a:ext cx="640080" cy="292608"/>
          </a:xfrm>
          <a:prstGeom prst="rect">
            <a:avLst>
              <a:gd name="adj" fmla="val 9375"/>
            </a:avLst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32004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371600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创建订单主记录 + 视频 OSS 预分配路径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200400"/>
            <a:ext cx="640080" cy="292608"/>
          </a:xfrm>
          <a:prstGeom prst="rect">
            <a:avLst>
              <a:gd name="adj" fmla="val 9375"/>
            </a:avLst>
          </a:prstGeom>
          <a:solidFill>
            <a:srgbClr val="D90429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32004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94960" y="32004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采集音视频 → 加密 → 上传 → SHA256 校验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3657600"/>
            <a:ext cx="640080" cy="292608"/>
          </a:xfrm>
          <a:prstGeom prst="rect">
            <a:avLst>
              <a:gd name="adj" fmla="val 9375"/>
            </a:avLst>
          </a:prstGeom>
          <a:solidFill>
            <a:srgbClr val="D90429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657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371600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调用风评引擎,生成风评结果并落库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3657600"/>
            <a:ext cx="640080" cy="292608"/>
          </a:xfrm>
          <a:prstGeom prst="rect">
            <a:avLst>
              <a:gd name="adj" fmla="val 9375"/>
            </a:avLst>
          </a:prstGeom>
          <a:solidFill>
            <a:srgbClr val="D90429"/>
          </a:solidFill>
          <a:ln/>
        </p:spPr>
      </p:sp>
      <p:sp>
        <p:nvSpPr>
          <p:cNvPr id="47" name="Text 45"/>
          <p:cNvSpPr/>
          <p:nvPr/>
        </p:nvSpPr>
        <p:spPr>
          <a:xfrm>
            <a:off x="4663440" y="36576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94960" y="36576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客户人脸 + 意愿确认 → CA 数字证书签名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0080" y="4114800"/>
            <a:ext cx="640080" cy="292608"/>
          </a:xfrm>
          <a:prstGeom prst="rect">
            <a:avLst>
              <a:gd name="adj" fmla="val 9375"/>
            </a:avLst>
          </a:prstGeom>
          <a:solidFill>
            <a:srgbClr val="D90429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41148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37160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异步发起智能质检,不阻塞主流程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3440" y="4114800"/>
            <a:ext cx="640080" cy="292608"/>
          </a:xfrm>
          <a:prstGeom prst="rect">
            <a:avLst>
              <a:gd name="adj" fmla="val 9375"/>
            </a:avLst>
          </a:prstGeom>
          <a:solidFill>
            <a:srgbClr val="D90429"/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411480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94960" y="4114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CRM/核心系统同步,失败进入补偿队列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6】补偿机制:任一步失败 → 自动回滚已占用资源 + 状态回退 + 通知客户经理,不留数据空洞。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端到端业务流程:从预约到归档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FLOW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预约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客户身份预校验 + 产品匹配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27048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1527048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1527048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27048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7276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客户经理排期 + 渠道分配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87168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596896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2596896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2596896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96896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核身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42616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 OCR + 活体 + 双签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57016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66744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3666744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3666744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66744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12464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KYC 问卷 + 风险等级评定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26864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36592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30" name="Shape 28"/>
          <p:cNvSpPr/>
          <p:nvPr/>
        </p:nvSpPr>
        <p:spPr>
          <a:xfrm>
            <a:off x="4736592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36592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82312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话术执行 + 音视频同步录制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96712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806440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36" name="Shape 34"/>
          <p:cNvSpPr/>
          <p:nvPr/>
        </p:nvSpPr>
        <p:spPr>
          <a:xfrm>
            <a:off x="5806440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5806440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0644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85216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电子合同 + CA 数字签名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766560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876288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42" name="Shape 40"/>
          <p:cNvSpPr/>
          <p:nvPr/>
        </p:nvSpPr>
        <p:spPr>
          <a:xfrm>
            <a:off x="6876288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6876288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76288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2200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智能 + 人工复核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836408" y="164592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946136" y="1280160"/>
            <a:ext cx="1005840" cy="1097280"/>
          </a:xfrm>
          <a:prstGeom prst="rect">
            <a:avLst>
              <a:gd name="adj" fmla="val 4545"/>
            </a:avLst>
          </a:prstGeom>
          <a:solidFill>
            <a:srgbClr val="EDF2F4"/>
          </a:solidFill>
          <a:ln/>
        </p:spPr>
      </p:sp>
      <p:sp>
        <p:nvSpPr>
          <p:cNvPr id="48" name="Shape 46"/>
          <p:cNvSpPr/>
          <p:nvPr/>
        </p:nvSpPr>
        <p:spPr>
          <a:xfrm>
            <a:off x="7946136" y="1280160"/>
            <a:ext cx="1005840" cy="320040"/>
          </a:xfrm>
          <a:prstGeom prst="rect">
            <a:avLst>
              <a:gd name="adj" fmla="val 14286"/>
            </a:avLst>
          </a:prstGeom>
          <a:solidFill>
            <a:srgbClr val="2B2D42"/>
          </a:solidFill>
          <a:ln/>
        </p:spPr>
      </p:sp>
      <p:sp>
        <p:nvSpPr>
          <p:cNvPr id="49" name="Text 47"/>
          <p:cNvSpPr/>
          <p:nvPr/>
        </p:nvSpPr>
        <p:spPr>
          <a:xfrm>
            <a:off x="7946136" y="1280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46136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991856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区块链存证 + 监管上报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渠道分支(同一流程,不同载体)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57200" y="2971800"/>
            <a:ext cx="2651760" cy="91440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0" y="2971800"/>
            <a:ext cx="73152" cy="9144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H5/小程序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5-8 分钟,客户自助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46120" y="2971800"/>
            <a:ext cx="2651760" cy="91440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58" name="Shape 56"/>
          <p:cNvSpPr/>
          <p:nvPr/>
        </p:nvSpPr>
        <p:spPr>
          <a:xfrm>
            <a:off x="3246120" y="2971800"/>
            <a:ext cx="73152" cy="9144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9" name="Text 57"/>
          <p:cNvSpPr/>
          <p:nvPr/>
        </p:nvSpPr>
        <p:spPr>
          <a:xfrm>
            <a:off x="342900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线下一体机(高柜)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342900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客户经理陪同,15-20 分钟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35040" y="2971800"/>
            <a:ext cx="2651760" cy="914400"/>
          </a:xfrm>
          <a:prstGeom prst="rect">
            <a:avLst>
              <a:gd name="adj" fmla="val 5000"/>
            </a:avLst>
          </a:prstGeom>
          <a:solidFill>
            <a:srgbClr val="EDF2F4"/>
          </a:solidFill>
          <a:ln/>
        </p:spPr>
      </p:sp>
      <p:sp>
        <p:nvSpPr>
          <p:cNvPr id="62" name="Shape 60"/>
          <p:cNvSpPr/>
          <p:nvPr/>
        </p:nvSpPr>
        <p:spPr>
          <a:xfrm>
            <a:off x="6035040" y="2971800"/>
            <a:ext cx="73152" cy="9144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3" name="Text 61"/>
          <p:cNvSpPr/>
          <p:nvPr/>
        </p:nvSpPr>
        <p:spPr>
          <a:xfrm>
            <a:off x="6217920" y="3063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 移动展业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外拓场景,10-15 分钟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" y="4069080"/>
            <a:ext cx="8229600" cy="640080"/>
          </a:xfrm>
          <a:prstGeom prst="rect">
            <a:avLst>
              <a:gd name="adj" fmla="val 7143"/>
            </a:avLst>
          </a:prstGeom>
          <a:solidFill>
            <a:srgbClr val="2B2D42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关键检查点(Gate)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4389120"/>
            <a:ext cx="1554480" cy="256032"/>
          </a:xfrm>
          <a:prstGeom prst="rect">
            <a:avLst>
              <a:gd name="adj" fmla="val 10714"/>
            </a:avLst>
          </a:prstGeom>
          <a:solidFill>
            <a:srgbClr val="D90429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G1 实名核身通过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2240280" y="4389120"/>
            <a:ext cx="1554480" cy="256032"/>
          </a:xfrm>
          <a:prstGeom prst="rect">
            <a:avLst>
              <a:gd name="adj" fmla="val 10714"/>
            </a:avLst>
          </a:prstGeom>
          <a:solidFill>
            <a:srgbClr val="D90429"/>
          </a:solidFill>
          <a:ln/>
        </p:spPr>
      </p:sp>
      <p:sp>
        <p:nvSpPr>
          <p:cNvPr id="70" name="Text 68"/>
          <p:cNvSpPr/>
          <p:nvPr/>
        </p:nvSpPr>
        <p:spPr>
          <a:xfrm>
            <a:off x="2240280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G2 风评等级与产品匹配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840480" y="4389120"/>
            <a:ext cx="1554480" cy="256032"/>
          </a:xfrm>
          <a:prstGeom prst="rect">
            <a:avLst>
              <a:gd name="adj" fmla="val 10714"/>
            </a:avLst>
          </a:prstGeom>
          <a:solidFill>
            <a:srgbClr val="D90429"/>
          </a:solidFill>
          <a:ln/>
        </p:spPr>
      </p:sp>
      <p:sp>
        <p:nvSpPr>
          <p:cNvPr id="72" name="Text 70"/>
          <p:cNvSpPr/>
          <p:nvPr/>
        </p:nvSpPr>
        <p:spPr>
          <a:xfrm>
            <a:off x="3840480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G3 话术 100% 执行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440680" y="4389120"/>
            <a:ext cx="1554480" cy="256032"/>
          </a:xfrm>
          <a:prstGeom prst="rect">
            <a:avLst>
              <a:gd name="adj" fmla="val 10714"/>
            </a:avLst>
          </a:prstGeom>
          <a:solidFill>
            <a:srgbClr val="D90429"/>
          </a:solidFill>
          <a:ln/>
        </p:spPr>
      </p:sp>
      <p:sp>
        <p:nvSpPr>
          <p:cNvPr id="74" name="Text 72"/>
          <p:cNvSpPr/>
          <p:nvPr/>
        </p:nvSpPr>
        <p:spPr>
          <a:xfrm>
            <a:off x="5440680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G4 客户意愿明确确认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040880" y="4389120"/>
            <a:ext cx="1554480" cy="256032"/>
          </a:xfrm>
          <a:prstGeom prst="rect">
            <a:avLst>
              <a:gd name="adj" fmla="val 10714"/>
            </a:avLst>
          </a:prstGeom>
          <a:solidFill>
            <a:srgbClr val="D90429"/>
          </a:solidFill>
          <a:ln/>
        </p:spPr>
      </p:sp>
      <p:sp>
        <p:nvSpPr>
          <p:cNvPr id="76" name="Text 74"/>
          <p:cNvSpPr/>
          <p:nvPr/>
        </p:nvSpPr>
        <p:spPr>
          <a:xfrm>
            <a:off x="7040880" y="43891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G5 质检分数 ≥ 70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78" name="Text 76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7】任一 Gate 不通过 → 流程挂起/重做,绝对不可跳过,这是监管检查的核心证据。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异常分支流程:确保客户「走得完」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2651760" cy="457200"/>
          </a:xfrm>
          <a:prstGeom prst="rect">
            <a:avLst>
              <a:gd name="adj" fmla="val 10000"/>
            </a:avLst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70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技术异常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网络断线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设备故障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音视频异常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OSS 上传失败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2468880" cy="27432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本地缓存 + 断点续传 + 自动告警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097280"/>
            <a:ext cx="26517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46120" y="1097280"/>
            <a:ext cx="2651760" cy="457200"/>
          </a:xfrm>
          <a:prstGeom prst="rect">
            <a:avLst>
              <a:gd name="adj" fmla="val 10000"/>
            </a:avLst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170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流程异常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29000" y="1874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客户拒答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话术中断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中途离席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二次确认失败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2423160"/>
            <a:ext cx="2468880" cy="27432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重新进入该节点 + 客户经理介入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1097280"/>
            <a:ext cx="2651760" cy="1691640"/>
          </a:xfrm>
          <a:prstGeom prst="rect">
            <a:avLst>
              <a:gd name="adj" fmla="val 2703"/>
            </a:avLst>
          </a:prstGeom>
          <a:solidFill>
            <a:srgbClr val="EDF2F4"/>
          </a:solidFill>
          <a:ln/>
        </p:spPr>
      </p:sp>
      <p:sp>
        <p:nvSpPr>
          <p:cNvPr id="28" name="Shape 26"/>
          <p:cNvSpPr/>
          <p:nvPr/>
        </p:nvSpPr>
        <p:spPr>
          <a:xfrm>
            <a:off x="6035040" y="1097280"/>
            <a:ext cx="2651760" cy="457200"/>
          </a:xfrm>
          <a:prstGeom prst="rect">
            <a:avLst>
              <a:gd name="adj" fmla="val 10000"/>
            </a:avLst>
          </a:prstGeom>
          <a:solidFill>
            <a:srgbClr val="D90429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1704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8368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合规异常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7220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1874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风险不匹配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0" y="20574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证件失效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17920" y="224028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非本人办理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17920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高风险反洗钱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26480" y="2423160"/>
            <a:ext cx="2468880" cy="274320"/>
          </a:xfrm>
          <a:prstGeom prst="rect">
            <a:avLst>
              <a:gd name="adj" fmla="val 10000"/>
            </a:avLst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2423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 阻断流程 + 升级审核 + 留痕上报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017520"/>
            <a:ext cx="8229600" cy="1645920"/>
          </a:xfrm>
          <a:prstGeom prst="rect">
            <a:avLst>
              <a:gd name="adj" fmla="val 2778"/>
            </a:avLst>
          </a:prstGeom>
          <a:solidFill>
            <a:srgbClr val="2B2D4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客户保护机制 - 保证「能正常走完购买流程」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3520440"/>
            <a:ext cx="109728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3520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多端续接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3703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线上中断 → 可在线下继续,反之亦然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83280" y="3520440"/>
            <a:ext cx="109728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4" name="Text 42"/>
          <p:cNvSpPr/>
          <p:nvPr/>
        </p:nvSpPr>
        <p:spPr>
          <a:xfrm>
            <a:off x="3566160" y="3520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暂存恢复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566160" y="3703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本地加密暂存 24h,网络恢复自动续传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26480" y="3520440"/>
            <a:ext cx="109728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47" name="Text 45"/>
          <p:cNvSpPr/>
          <p:nvPr/>
        </p:nvSpPr>
        <p:spPr>
          <a:xfrm>
            <a:off x="6309360" y="35204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远程协助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370332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客户经理远程接管 + 屏幕共享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40080" y="4023360"/>
            <a:ext cx="109728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4023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二次预约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4206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本次失败 → 自动 7 天内可重新预约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383280" y="4023360"/>
            <a:ext cx="109728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3" name="Text 51"/>
          <p:cNvSpPr/>
          <p:nvPr/>
        </p:nvSpPr>
        <p:spPr>
          <a:xfrm>
            <a:off x="3566160" y="4023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人工兜底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566160" y="4206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复杂情况转 955xx 人工坐席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26480" y="4023360"/>
            <a:ext cx="109728" cy="36576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56" name="Text 54"/>
          <p:cNvSpPr/>
          <p:nvPr/>
        </p:nvSpPr>
        <p:spPr>
          <a:xfrm>
            <a:off x="6309360" y="40233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短信进度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09360" y="42062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每完成 1 个节点 → 短信通知客户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8】设计原则:任何异常都不能让客户「卡在流程里」,必须有明确的恢复路径或人工兜底。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话术模板(1/2):保险 · 理财 · 基金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TEMPLATES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657600"/>
          </a:xfrm>
          <a:prstGeom prst="rect">
            <a:avLst>
              <a:gd name="adj" fmla="val 1724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48640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保险产品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INSURANCE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645920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 问候核身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928" y="18562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您好,我是 XX 客户经理,本次双录将全程录音录像,作为合规凭证保存 10 年。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139696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 产品告知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本产品为终身寿险(分红型),保险责任以合同条款为准。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66928" y="2633472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633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N3 风险揭示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6928" y="2843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分红不确定,演示利率非保证收益,可能为零,您是否充分理解?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66928" y="3127248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N4 犹豫期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3337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您有 15 天犹豫期,期内退保仅扣 10 元工本费。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66928" y="3621024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621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N5 健康告知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66928" y="38313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请如实告知健康状况,隐瞒可能影响理赔。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66928" y="4114800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N6 签字确认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66928" y="43251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以上内容均为您的真实意愿,是否确认投保?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46120" y="1005840"/>
            <a:ext cx="2651760" cy="3657600"/>
          </a:xfrm>
          <a:prstGeom prst="rect">
            <a:avLst>
              <a:gd name="adj" fmla="val 1724"/>
            </a:avLst>
          </a:prstGeom>
          <a:solidFill>
            <a:srgbClr val="EDF2F4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6120" y="1005840"/>
            <a:ext cx="2651760" cy="548640"/>
          </a:xfrm>
          <a:prstGeom prst="rect">
            <a:avLst>
              <a:gd name="adj" fmla="val 8333"/>
            </a:avLst>
          </a:prstGeom>
          <a:solidFill>
            <a:srgbClr val="2A5C8A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理财产品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8328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55848" y="1645920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3355848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 风险匹配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355848" y="18562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您的风险等级为 C3(稳健型),本产品风险等级 C2,匹配通过。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55848" y="2139696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35" name="Text 33"/>
          <p:cNvSpPr/>
          <p:nvPr/>
        </p:nvSpPr>
        <p:spPr>
          <a:xfrm>
            <a:off x="3355848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 产品要素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55848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本产品为封闭式净值型理财,期限 365 天,业绩比较基准 3.5%-4.2%。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55848" y="2633472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38" name="Text 36"/>
          <p:cNvSpPr/>
          <p:nvPr/>
        </p:nvSpPr>
        <p:spPr>
          <a:xfrm>
            <a:off x="3355848" y="2633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N3 收益说明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55848" y="2843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业绩比较基准非保证收益,实际可能低于基准,本金不保证。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355848" y="3127248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41" name="Text 39"/>
          <p:cNvSpPr/>
          <p:nvPr/>
        </p:nvSpPr>
        <p:spPr>
          <a:xfrm>
            <a:off x="3355848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N4 资金用途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55848" y="3337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本产品募集资金主要投资于债券和同业存单。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355848" y="3621024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44" name="Text 42"/>
          <p:cNvSpPr/>
          <p:nvPr/>
        </p:nvSpPr>
        <p:spPr>
          <a:xfrm>
            <a:off x="3355848" y="3621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N5 流动性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55848" y="38313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产品封闭期内不可赎回,是否影响您的资金安排?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355848" y="4114800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47" name="Text 45"/>
          <p:cNvSpPr/>
          <p:nvPr/>
        </p:nvSpPr>
        <p:spPr>
          <a:xfrm>
            <a:off x="3355848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N6 确认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55848" y="43251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请确认知悉风险与产品要素,是否继续购买?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35040" y="1005840"/>
            <a:ext cx="2651760" cy="3657600"/>
          </a:xfrm>
          <a:prstGeom prst="rect">
            <a:avLst>
              <a:gd name="adj" fmla="val 1724"/>
            </a:avLst>
          </a:prstGeom>
          <a:solidFill>
            <a:srgbClr val="EDF2F4"/>
          </a:solidFill>
          <a:ln/>
        </p:spPr>
      </p:sp>
      <p:sp>
        <p:nvSpPr>
          <p:cNvPr id="50" name="Shape 48"/>
          <p:cNvSpPr/>
          <p:nvPr/>
        </p:nvSpPr>
        <p:spPr>
          <a:xfrm>
            <a:off x="6035040" y="1005840"/>
            <a:ext cx="2651760" cy="548640"/>
          </a:xfrm>
          <a:prstGeom prst="rect">
            <a:avLst>
              <a:gd name="adj" fmla="val 8333"/>
            </a:avLst>
          </a:prstGeom>
          <a:solidFill>
            <a:srgbClr val="2A8A5C"/>
          </a:solidFill>
          <a:ln/>
        </p:spPr>
      </p:sp>
      <p:sp>
        <p:nvSpPr>
          <p:cNvPr id="51" name="Text 49"/>
          <p:cNvSpPr/>
          <p:nvPr/>
        </p:nvSpPr>
        <p:spPr>
          <a:xfrm>
            <a:off x="61722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基金产品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172200" y="12984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300" kern="0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44768" y="1645920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54" name="Text 52"/>
          <p:cNvSpPr/>
          <p:nvPr/>
        </p:nvSpPr>
        <p:spPr>
          <a:xfrm>
            <a:off x="6144768" y="1645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N1 适当性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144768" y="185623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经评估您的风险等级为 C4(成长型),本基金风险等级 C4,匹配通过。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44768" y="2139696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57" name="Text 55"/>
          <p:cNvSpPr/>
          <p:nvPr/>
        </p:nvSpPr>
        <p:spPr>
          <a:xfrm>
            <a:off x="6144768" y="2139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 基金类型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44768" y="2350008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本基金为股票型开放式基金,股票仓位不低于 80%。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44768" y="2633472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60" name="Text 58"/>
          <p:cNvSpPr/>
          <p:nvPr/>
        </p:nvSpPr>
        <p:spPr>
          <a:xfrm>
            <a:off x="6144768" y="2633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N3 净值波动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144768" y="2843784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基金净值随市场波动,可能出现本金损失,极端情况下亏损超过 30%。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144768" y="3127248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63" name="Text 61"/>
          <p:cNvSpPr/>
          <p:nvPr/>
        </p:nvSpPr>
        <p:spPr>
          <a:xfrm>
            <a:off x="6144768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N4 费率说明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144768" y="333756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申购费 1.5%,管理费 1.5%/年,托管费 0.25%/年,持有 7 天内赎回 1.5% 罚息。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144768" y="3621024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66" name="Text 64"/>
          <p:cNvSpPr/>
          <p:nvPr/>
        </p:nvSpPr>
        <p:spPr>
          <a:xfrm>
            <a:off x="6144768" y="36210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N5 历史业绩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144768" y="3831336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过往业绩不预示未来表现,投资需谨慎。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144768" y="4114800"/>
            <a:ext cx="914400" cy="201168"/>
          </a:xfrm>
          <a:prstGeom prst="rect">
            <a:avLst>
              <a:gd name="adj" fmla="val 9091"/>
            </a:avLst>
          </a:prstGeom>
          <a:solidFill>
            <a:srgbClr val="D90429"/>
          </a:solidFill>
          <a:ln/>
        </p:spPr>
      </p:sp>
      <p:sp>
        <p:nvSpPr>
          <p:cNvPr id="69" name="Text 67"/>
          <p:cNvSpPr/>
          <p:nvPr/>
        </p:nvSpPr>
        <p:spPr>
          <a:xfrm>
            <a:off x="6144768" y="4114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N6 确认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144768" y="43251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请确认已阅读《招募说明书》《风险揭示书》,是否确认申购?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9】话术要点:每个产品类别必含「风险揭示 + 适当性匹配 + 客户确认」三段,且必须由客户亲口确认。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话术模板(2/2):风险评估流程 · 客户画像 · 智能匹配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风评流程(KYC 问卷 → 风险等级 → 产品匹配)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08760" cy="731520"/>
          </a:xfrm>
          <a:prstGeom prst="rect">
            <a:avLst>
              <a:gd name="adj" fmla="val 6250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4630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年龄/职业/收入/资产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2024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1325880"/>
            <a:ext cx="1508760" cy="731520"/>
          </a:xfrm>
          <a:prstGeom prst="rect">
            <a:avLst>
              <a:gd name="adj" fmla="val 6250"/>
            </a:avLst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240280" y="14630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224028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5176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投资经验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年限/产品类型/规模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6616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749040" y="1325880"/>
            <a:ext cx="1508760" cy="731520"/>
          </a:xfrm>
          <a:prstGeom prst="rect">
            <a:avLst>
              <a:gd name="adj" fmla="val 6250"/>
            </a:avLst>
          </a:prstGeom>
          <a:solidFill>
            <a:srgbClr val="EDF2F4"/>
          </a:solidFill>
          <a:ln/>
        </p:spPr>
      </p:sp>
      <p:sp>
        <p:nvSpPr>
          <p:cNvPr id="18" name="Shape 16"/>
          <p:cNvSpPr/>
          <p:nvPr/>
        </p:nvSpPr>
        <p:spPr>
          <a:xfrm>
            <a:off x="3886200" y="14630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9" name="Text 17"/>
          <p:cNvSpPr/>
          <p:nvPr/>
        </p:nvSpPr>
        <p:spPr>
          <a:xfrm>
            <a:off x="388620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9768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风险偏好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波动承受/亏损容忍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1208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94960" y="1325880"/>
            <a:ext cx="1508760" cy="731520"/>
          </a:xfrm>
          <a:prstGeom prst="rect">
            <a:avLst>
              <a:gd name="adj" fmla="val 6250"/>
            </a:avLst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5532120" y="14630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5" name="Text 23"/>
          <p:cNvSpPr/>
          <p:nvPr/>
        </p:nvSpPr>
        <p:spPr>
          <a:xfrm>
            <a:off x="553212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资金性质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4360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短期/长期/应急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15087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040880" y="1325880"/>
            <a:ext cx="1508760" cy="731520"/>
          </a:xfrm>
          <a:prstGeom prst="rect">
            <a:avLst>
              <a:gd name="adj" fmla="val 6250"/>
            </a:avLst>
          </a:prstGeom>
          <a:solidFill>
            <a:srgbClr val="EDF2F4"/>
          </a:solidFill>
          <a:ln/>
        </p:spPr>
      </p:sp>
      <p:sp>
        <p:nvSpPr>
          <p:cNvPr id="30" name="Shape 28"/>
          <p:cNvSpPr/>
          <p:nvPr/>
        </p:nvSpPr>
        <p:spPr>
          <a:xfrm>
            <a:off x="7178040" y="1463040"/>
            <a:ext cx="365760" cy="36576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等级评定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89520" y="16916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C1-C5 风险等级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2103120"/>
            <a:ext cx="8229600" cy="2606040"/>
          </a:xfrm>
          <a:prstGeom prst="rect">
            <a:avLst>
              <a:gd name="adj" fmla="val 1754"/>
            </a:avLst>
          </a:prstGeom>
          <a:solidFill>
            <a:srgbClr val="EDF2F4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风评话术样例(节选关键节点)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2560320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25603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知情同意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737360" y="256032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为给您匹配合适的产品,需先做风险评估,回答将作为销售依据,您是否同意?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40080" y="2852928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285292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收入询问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737360" y="285292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请告知您家庭的年收入范围:A.10 万以下  B.10-30 万  C.30-100 万  D.100 万以上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3145536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1455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投资经验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737360" y="314553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您过往投资过哪些类型?股票/基金/银行理财/不动产/无,投资年限?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3438144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343814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风险态度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737360" y="3438144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若投资亏损 20%,您会:A.无法接受  B.焦虑但持有  C.可接受  D.加仓抄底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" y="3730752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3730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Q5 流动性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737360" y="373075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这笔资金的预计持有期限?短期(1 年内)/中期(1-3 年)/长期(3 年以上)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40080" y="4023360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Q6 风险揭示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737360" y="4023360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评估结果:您的风险等级为 C3(稳健型),适合 R3 及以下风险产品,是否知晓?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0080" y="4315968"/>
            <a:ext cx="1005840" cy="219456"/>
          </a:xfrm>
          <a:prstGeom prst="rect">
            <a:avLst>
              <a:gd name="adj" fmla="val 8333"/>
            </a:avLst>
          </a:prstGeom>
          <a:solidFill>
            <a:srgbClr val="2B2D42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31596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Q7 二次确认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737360" y="431596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以上评估基于您的真实意愿,如有虚假需承担相应责任,是否确认?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10】风评双录关联:评估结果与产品购买必须在同一次双录中,跨次评估视作失效(监管红线)。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客户体验保障:让购买流程「走得顺」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EXPERIENCE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1645920"/>
          </a:xfrm>
          <a:prstGeom prst="rect">
            <a:avLst>
              <a:gd name="adj" fmla="val 2778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411480"/>
          </a:xfrm>
          <a:prstGeom prst="rect">
            <a:avLst>
              <a:gd name="adj" fmla="val 11111"/>
            </a:avLst>
          </a:prstGeom>
          <a:solidFill>
            <a:srgbClr val="8D99A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现状(Before)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双录 30+ 分钟,客户等待焦虑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话术不熟反复卡顿,体验差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93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线下需多次到店,跑路成本高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出现问题需重新预约,周期长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3931920" cy="1645920"/>
          </a:xfrm>
          <a:prstGeom prst="rect">
            <a:avLst>
              <a:gd name="adj" fmla="val 2778"/>
            </a:avLst>
          </a:prstGeom>
          <a:solidFill>
            <a:srgbClr val="EDF2F4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051560"/>
            <a:ext cx="3931920" cy="411480"/>
          </a:xfrm>
          <a:prstGeom prst="rect">
            <a:avLst>
              <a:gd name="adj" fmla="val 11111"/>
            </a:avLst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方案后(After)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线上 5-8 分钟,线下 15 分钟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8470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智能话术引导,逐项确认无卡顿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093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PAD 上门,足不出户办业务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中途中断可续接,不重来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关键体验指标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192024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91840"/>
            <a:ext cx="192024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双录时长下降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30+ min 降至 8-15 min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14600" y="3291840"/>
            <a:ext cx="192024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3291840"/>
            <a:ext cx="192024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27" name="Text 25"/>
          <p:cNvSpPr/>
          <p:nvPr/>
        </p:nvSpPr>
        <p:spPr>
          <a:xfrm>
            <a:off x="25146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25146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一次性通过率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146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预检 + 引导话术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3291840"/>
            <a:ext cx="192024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3291840"/>
            <a:ext cx="192024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45720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渠道覆盖提升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+ 高柜 + PAD 移动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29400" y="3291840"/>
            <a:ext cx="1920240" cy="1371600"/>
          </a:xfrm>
          <a:prstGeom prst="rect">
            <a:avLst>
              <a:gd name="adj" fmla="val 3333"/>
            </a:avLst>
          </a:prstGeom>
          <a:solidFill>
            <a:srgbClr val="EDF2F4"/>
          </a:solidFill>
          <a:ln/>
        </p:spPr>
      </p:sp>
      <p:sp>
        <p:nvSpPr>
          <p:cNvPr id="36" name="Shape 34"/>
          <p:cNvSpPr/>
          <p:nvPr/>
        </p:nvSpPr>
        <p:spPr>
          <a:xfrm>
            <a:off x="6629400" y="3291840"/>
            <a:ext cx="1920240" cy="73152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0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38" name="Text 36"/>
          <p:cNvSpPr/>
          <p:nvPr/>
        </p:nvSpPr>
        <p:spPr>
          <a:xfrm>
            <a:off x="662940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客户卡顿投诉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29400" y="4343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断点续传 + 远程兜底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11】体验设计的红线:合规要求是「下限」,客户感知是「上限」,两者必须同时满足。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价值总结:8 大痛点 × 3 维价值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MATRIX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3657600"/>
          </a:xfrm>
          <a:prstGeom prst="rect">
            <a:avLst>
              <a:gd name="adj" fmla="val 1724"/>
            </a:avLst>
          </a:prstGeom>
          <a:solidFill>
            <a:srgbClr val="EDF2F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640080"/>
          </a:xfrm>
          <a:prstGeom prst="rect">
            <a:avLst>
              <a:gd name="adj" fmla="val 7143"/>
            </a:avLst>
          </a:prstGeom>
          <a:solidFill>
            <a:srgbClr val="D9042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痛点闭环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话术互通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统一话术中心,版本强一致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542032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视频合规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70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全链路加密 + 区块链存证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3255264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095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质检一致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4838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同一规则+同一评分卡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3968496"/>
            <a:ext cx="274320" cy="274320"/>
          </a:xfrm>
          <a:prstGeom prst="ellipse">
            <a:avLst/>
          </a:prstGeom>
          <a:solidFill>
            <a:srgbClr val="D9042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22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数据一致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1970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Saga 分布式事务 + 状态机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1005840"/>
            <a:ext cx="2651760" cy="3657600"/>
          </a:xfrm>
          <a:prstGeom prst="rect">
            <a:avLst>
              <a:gd name="adj" fmla="val 1724"/>
            </a:avLst>
          </a:prstGeom>
          <a:solidFill>
            <a:srgbClr val="EDF2F4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6120" y="1005840"/>
            <a:ext cx="2651760" cy="640080"/>
          </a:xfrm>
          <a:prstGeom prst="rect">
            <a:avLst>
              <a:gd name="adj" fmla="val 7143"/>
            </a:avLst>
          </a:prstGeom>
          <a:solidFill>
            <a:srgbClr val="2A5C8A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88620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客户价值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383280" y="1828800"/>
            <a:ext cx="274320" cy="274320"/>
          </a:xfrm>
          <a:prstGeom prst="ellipse">
            <a:avLst/>
          </a:prstGeom>
          <a:solidFill>
            <a:srgbClr val="2A5C8A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74904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时长缩短 70%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4904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5-8min / 线下 15min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83280" y="2542032"/>
            <a:ext cx="274320" cy="274320"/>
          </a:xfrm>
          <a:prstGeom prst="ellipse">
            <a:avLst/>
          </a:prstGeom>
          <a:solidFill>
            <a:srgbClr val="2A5C8A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49040" y="2496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一次通过 95%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2770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预检降低重做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3280" y="3255264"/>
            <a:ext cx="274320" cy="274320"/>
          </a:xfrm>
          <a:prstGeom prst="ellipse">
            <a:avLst/>
          </a:prstGeom>
          <a:solidFill>
            <a:srgbClr val="2A5C8A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749040" y="32095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足不出户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34838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 上门 + 线上自助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3280" y="3968496"/>
            <a:ext cx="274320" cy="274320"/>
          </a:xfrm>
          <a:prstGeom prst="ellipse">
            <a:avLst/>
          </a:prstGeom>
          <a:solidFill>
            <a:srgbClr val="2A5C8A"/>
          </a:solidFill>
          <a:ln/>
        </p:spPr>
      </p:sp>
      <p:sp>
        <p:nvSpPr>
          <p:cNvPr id="42" name="Text 40"/>
          <p:cNvSpPr/>
          <p:nvPr/>
        </p:nvSpPr>
        <p:spPr>
          <a:xfrm>
            <a:off x="338328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749040" y="3922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49040" y="41970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断点续传不重来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1005840"/>
            <a:ext cx="2651760" cy="3657600"/>
          </a:xfrm>
          <a:prstGeom prst="rect">
            <a:avLst>
              <a:gd name="adj" fmla="val 1724"/>
            </a:avLst>
          </a:prstGeom>
          <a:solidFill>
            <a:srgbClr val="EDF2F4"/>
          </a:solidFill>
          <a:ln/>
        </p:spPr>
      </p:sp>
      <p:sp>
        <p:nvSpPr>
          <p:cNvPr id="46" name="Shape 44"/>
          <p:cNvSpPr/>
          <p:nvPr/>
        </p:nvSpPr>
        <p:spPr>
          <a:xfrm>
            <a:off x="6035040" y="1005840"/>
            <a:ext cx="2651760" cy="640080"/>
          </a:xfrm>
          <a:prstGeom prst="rect">
            <a:avLst>
              <a:gd name="adj" fmla="val 7143"/>
            </a:avLst>
          </a:prstGeom>
          <a:solidFill>
            <a:srgbClr val="2A8A5C"/>
          </a:solidFill>
          <a:ln/>
        </p:spPr>
      </p:sp>
      <p:sp>
        <p:nvSpPr>
          <p:cNvPr id="47" name="Text 45"/>
          <p:cNvSpPr/>
          <p:nvPr/>
        </p:nvSpPr>
        <p:spPr>
          <a:xfrm>
            <a:off x="6172200" y="1097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6675120" y="1005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机构价值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172200" y="1828800"/>
            <a:ext cx="274320" cy="274320"/>
          </a:xfrm>
          <a:prstGeom prst="ellipse">
            <a:avLst/>
          </a:prstGeom>
          <a:solidFill>
            <a:srgbClr val="2A8A5C"/>
          </a:solidFill>
          <a:ln/>
        </p:spPr>
      </p:sp>
      <p:sp>
        <p:nvSpPr>
          <p:cNvPr id="50" name="Text 48"/>
          <p:cNvSpPr/>
          <p:nvPr/>
        </p:nvSpPr>
        <p:spPr>
          <a:xfrm>
            <a:off x="617220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537960" y="1783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合规零处罚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37960" y="20574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全量留痕 + 监管直连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72200" y="2542032"/>
            <a:ext cx="274320" cy="274320"/>
          </a:xfrm>
          <a:prstGeom prst="ellipse">
            <a:avLst/>
          </a:prstGeom>
          <a:solidFill>
            <a:srgbClr val="2A8A5C"/>
          </a:solidFill>
          <a:ln/>
        </p:spPr>
      </p:sp>
      <p:sp>
        <p:nvSpPr>
          <p:cNvPr id="54" name="Text 52"/>
          <p:cNvSpPr/>
          <p:nvPr/>
        </p:nvSpPr>
        <p:spPr>
          <a:xfrm>
            <a:off x="617220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537960" y="2496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 3x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37960" y="2770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客户经理产能翻倍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172200" y="3255264"/>
            <a:ext cx="274320" cy="274320"/>
          </a:xfrm>
          <a:prstGeom prst="ellipse">
            <a:avLst/>
          </a:prstGeom>
          <a:solidFill>
            <a:srgbClr val="2A8A5C"/>
          </a:solidFill>
          <a:ln/>
        </p:spPr>
      </p:sp>
      <p:sp>
        <p:nvSpPr>
          <p:cNvPr id="58" name="Text 56"/>
          <p:cNvSpPr/>
          <p:nvPr/>
        </p:nvSpPr>
        <p:spPr>
          <a:xfrm>
            <a:off x="617220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537960" y="32095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数据资产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537960" y="348386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全链路埋点 + 客户画像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72200" y="3968496"/>
            <a:ext cx="274320" cy="274320"/>
          </a:xfrm>
          <a:prstGeom prst="ellipse">
            <a:avLst/>
          </a:prstGeom>
          <a:solidFill>
            <a:srgbClr val="2A8A5C"/>
          </a:solidFill>
          <a:ln/>
        </p:spPr>
      </p:sp>
      <p:sp>
        <p:nvSpPr>
          <p:cNvPr id="62" name="Text 60"/>
          <p:cNvSpPr/>
          <p:nvPr/>
        </p:nvSpPr>
        <p:spPr>
          <a:xfrm>
            <a:off x="6172200" y="3968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537960" y="392277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降本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537960" y="41970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纸质/U盘/抽检成本清零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12】核心价值闭环:监管合规(下限) → 客户体验(中线) → 机构效率(上限),三层同时达成。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" cy="4572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细节点标注附录:汇报/掌控双用途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457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 INDEX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/>
              <a:tblGrid>
                <a:gridCol w="548640"/>
                <a:gridCol w="1371600"/>
                <a:gridCol w="457200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细节点内容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痛点根源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线上线下矛盾本质是「流程载体不同」,非「话术不同」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战略汇报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架构核心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流程编排 + 能力中台 + 数据治理 三层解耦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技术评审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话术设计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原子化(N1~Nn)+ 强制确认位,跳过即阻断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业务宣讲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视频合规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音视频/签名/凭证同帧同步同存,国家授时为准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合规检查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质检一致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同规则 + 同模型 + 同评分卡,结果可比可对账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质控汇报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Saga 补偿 + 状态机回退,不留数据空洞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架构评审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 Gate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G1-G5 五道关卡,任一不过即挂起,不可跳过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监管迎检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异常恢复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任何异常必须有明确恢复路径或人工兜底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客服/运营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话术原则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必含「风险揭示 + 适当性匹配 + 客户确认」三段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业务培训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风评红线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评估结果与购买必须在同一次双录中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监管红线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合规是下限,客户感知是上限,两者同时满足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产品/UX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042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价值闭环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监管 → 体验 → 效率 三层同时达成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领导汇报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754880"/>
            <a:ext cx="8229600" cy="292608"/>
          </a:xfrm>
          <a:prstGeom prst="rect">
            <a:avLst>
              <a:gd name="adj" fmla="val 9375"/>
            </a:avLst>
          </a:prstGeom>
          <a:solidFill>
            <a:srgbClr val="D90429">
              <a:alpha val="1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754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【细节点 13】使用建议:12 个细节点对应不同汇报对象,可在 PPT 备注页或附录中展开完整论述。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0" y="5074920"/>
            <a:ext cx="822960" cy="64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80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欢迎讨论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914400" cy="36576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[您的姓名]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32918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金融科技部 / 合规部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[您的联系方式]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3749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749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[your.email@bank.com]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7863840" cy="18288"/>
          </a:xfrm>
          <a:prstGeom prst="rect">
            <a:avLst/>
          </a:prstGeom>
          <a:solidFill>
            <a:srgbClr val="D90429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线上线下双录一体化方案  |  V1.0  | 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线上线下双录一体化方案</dc:title>
  <dc:subject>合规升级 · 痛点驱动设计</dc:subject>
  <dc:creator>Mavis</dc:creator>
  <cp:lastModifiedBy>Mavis</cp:lastModifiedBy>
  <cp:revision>1</cp:revision>
  <dcterms:created xsi:type="dcterms:W3CDTF">2026-07-31T18:47:56Z</dcterms:created>
  <dcterms:modified xsi:type="dcterms:W3CDTF">2026-07-31T18:47:56Z</dcterms:modified>
</cp:coreProperties>
</file>
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548640"/>
            <a:ext cx="23774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914400"/>
            <a:ext cx="23774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1280160"/>
            <a:ext cx="23774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645920"/>
            <a:ext cx="23774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+ 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 + 话术统一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技术架构方案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数据一致 + 体验一致 · 区块链存证 + 智能播报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91440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双录一体化核心技术方案 · 适用于技术评审和架构汇报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汇报人:[姓名]    |    汇报日期:2026 年 8 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640080"/>
            <a:ext cx="1645920" cy="29260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640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核心技术方案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6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4023360" cy="1371600"/>
          </a:xfrm>
          <a:prstGeom prst="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63040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区块链技术架构方案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联盟链选型 + 网络拓扑 + 智能合约 + 国密集成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4023360" cy="1371600"/>
          </a:xfrm>
          <a:prstGeom prst="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200400"/>
            <a:ext cx="73152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3364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话术统一一致性方案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统一话术模型 + TTS/ASR 适配 + 同步播报 + 版本管理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23360" cy="1371600"/>
          </a:xfrm>
          <a:prstGeom prst="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691640"/>
            <a:ext cx="73152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28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对客体验感优化方案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69280" y="2286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客户旅程地图 + 多端协同 + 智能交互 + 实时反馈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4023360" cy="1371600"/>
          </a:xfrm>
          <a:prstGeom prst="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200400"/>
            <a:ext cx="73152" cy="13716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337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669280" y="3364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落地保障与价值总结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6928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上线节奏 + 风险预案 + 客户/机构/监管三方价值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spc="-5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0" y="1463040"/>
            <a:ext cx="36576" cy="1828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846320" y="1645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区块链技术架构方案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Block-chain Technical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联盟链选型 · 网络拓扑 · 智能合约 · 国密集成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/ 19    双录一体化 · 核心技术方案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业务背景:为什么双录系统需要区块链?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65960" cy="310896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196596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证据易篡改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监管检查存证质疑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141732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传统方案视频/合同/签字分散存储,任一环节被篡改,事后追溯难,司法采信率低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0" y="1051560"/>
            <a:ext cx="1965960" cy="310896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051560"/>
            <a:ext cx="196596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多方对账难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97480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697480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数据副本对账方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3200400"/>
            <a:ext cx="141732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银保监/证监会/银行/客户/保险公司多方数据散落,出现争议时各执一词,责任难界定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1965960" cy="310896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1051560"/>
            <a:ext cx="196596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8076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监管报送滞后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800600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监管报送时间窗口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3200400"/>
            <a:ext cx="141732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 人工报送,数据真实性依赖人工审核,无法做到实时存证 + 监管直连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1051560"/>
            <a:ext cx="1965960" cy="310896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766560" y="1051560"/>
            <a:ext cx="196596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1097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8388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司法采信弱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03720" y="2148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903720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电子证据采信率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3200400"/>
            <a:ext cx="141732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电子数据易灭失、易篡改,法庭上需要复杂的鉴真流程,举证成本高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297680"/>
            <a:ext cx="8229600" cy="411480"/>
          </a:xfrm>
          <a:prstGeom prst="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1】双录数据的「真实性、完整性、不可篡改性」是监管的硬性要求,区块链是当前唯一可数学证明的解法。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选型对比:联盟链 vs 公链 vs 私有链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8872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960120"/>
            <a:ext cx="21945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公链(比特币/以太坊)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960120"/>
            <a:ext cx="237744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960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联盟链(Fabric/BCOS)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4688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私有链(单机构)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118872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0" y="1417320"/>
            <a:ext cx="219456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1417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5-30 TPS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417320"/>
            <a:ext cx="2377440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4173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1000-3000 TPS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246888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417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5000+ TPS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746504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7465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0" y="1746504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17465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完全开放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1746504"/>
            <a:ext cx="2377440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17465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联盟成员准入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746504"/>
            <a:ext cx="2468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7465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本机构内部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075688"/>
            <a:ext cx="118872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0756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监管友好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075688"/>
            <a:ext cx="219456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20756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差(匿名)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0" y="2075688"/>
            <a:ext cx="2377440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20756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优(可监管节点)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075688"/>
            <a:ext cx="246888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0756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差(数据不共享)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404872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404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45920" y="2404872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1640" y="24048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公钥地址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2404872"/>
            <a:ext cx="2377440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24048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通道隔离+国密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404872"/>
            <a:ext cx="2468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24048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内部可控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2734056"/>
            <a:ext cx="118872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27340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司法采信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645920" y="2734056"/>
            <a:ext cx="219456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91640" y="27340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国际承认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40480" y="2734056"/>
            <a:ext cx="2377440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27340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国内司法承认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2734056"/>
            <a:ext cx="246888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27340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无第三方背书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3063240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063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645920" y="3063240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91640" y="3063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不可控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40480" y="3063240"/>
            <a:ext cx="2377440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86200" y="30632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可控(白名单)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3063240"/>
            <a:ext cx="2468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3063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单点风险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3392424"/>
            <a:ext cx="118872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33924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改造成本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645920" y="3392424"/>
            <a:ext cx="219456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91640" y="33924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840480" y="3392424"/>
            <a:ext cx="2377440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86200" y="33924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17920" y="3392424"/>
            <a:ext cx="2468880" cy="329184"/>
          </a:xfrm>
          <a:prstGeom prst="rect">
            <a:avLst/>
          </a:prstGeom>
          <a:solidFill>
            <a:srgbClr val="EDF2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63640" y="33924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3721608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3721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推荐度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645920" y="3721608"/>
            <a:ext cx="2194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91640" y="37216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不推荐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840480" y="3721608"/>
            <a:ext cx="2377440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86200" y="3721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217920" y="3721608"/>
            <a:ext cx="24688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63640" y="3721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3931920"/>
            <a:ext cx="8229600" cy="777240"/>
          </a:xfrm>
          <a:prstGeom prst="rect">
            <a:avLst>
              <a:gd name="adj" fmla="val 5882"/>
            </a:avLst>
          </a:prstGeom>
          <a:solidFill>
            <a:srgbClr val="EDF2F4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" y="4005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【选型结论】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Hyperledger Fabric 联盟链,4 节点共识 + 国密 SM2/SM3/SM4 集成 + 监管节点接入,在性能、合规、采信间取得平衡。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2】联盟链成员 = 本行 + 银保监 + 客户保险公司 + 公证处,共同维护账本,任何一方无法单独篡改。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整体架构:4 层分层 + 6 节点网络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594360"/>
          </a:xfrm>
          <a:prstGeom prst="rect">
            <a:avLst>
              <a:gd name="adj" fmla="val 4615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业务接入层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960120"/>
            <a:ext cx="640080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9601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双录业务系统    |    CRM    |    合规审计    |    监管报送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828800" cy="594360"/>
          </a:xfrm>
          <a:prstGeom prst="rect">
            <a:avLst>
              <a:gd name="adj" fmla="val 4615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区块链中间件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691640"/>
            <a:ext cx="640080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6916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Hyperledger Fabric SDK    |    智能合约引擎    |    事件订阅    |    国密适配器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1828800" cy="594360"/>
          </a:xfrm>
          <a:prstGeom prst="rect">
            <a:avLst>
              <a:gd name="adj" fmla="val 4615"/>
            </a:avLst>
          </a:prstGeom>
          <a:solidFill>
            <a:srgbClr val="2B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共识网络层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2423160"/>
            <a:ext cx="640080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24231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Orderer 排序节点    |    Peer 记账节点    |    CA 证书节点    |    Channel 通道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1828800" cy="594360"/>
          </a:xfrm>
          <a:prstGeom prst="rect">
            <a:avLst>
              <a:gd name="adj" fmla="val 4615"/>
            </a:avLst>
          </a:prstGeom>
          <a:solidFill>
            <a:srgbClr val="3D7EB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存储层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3154680"/>
            <a:ext cx="640080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315468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账本数据(区块链)    |    状态数据库(LevelDB)    |    历史数据(CouchDB)    |    国密 KMS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868680"/>
          </a:xfrm>
          <a:prstGeom prst="rect">
            <a:avLst>
              <a:gd name="adj" fmla="val 5263"/>
            </a:avLst>
          </a:prstGeom>
          <a:solidFill>
            <a:srgbClr val="EDF2F4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联盟链 6 节点网络拓扑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914400" cy="365760"/>
          </a:xfrm>
          <a:prstGeom prst="rect">
            <a:avLst>
              <a:gd name="adj" fmla="val 7500"/>
            </a:avLst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(排序)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91640" y="4297680"/>
            <a:ext cx="914400" cy="365760"/>
          </a:xfrm>
          <a:prstGeom prst="rect">
            <a:avLst>
              <a:gd name="adj" fmla="val 7500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169164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4297680"/>
            <a:ext cx="914400" cy="365760"/>
          </a:xfrm>
          <a:prstGeom prst="rect">
            <a:avLst>
              <a:gd name="adj" fmla="val 7500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银保监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94760" y="4297680"/>
            <a:ext cx="914400" cy="365760"/>
          </a:xfrm>
          <a:prstGeom prst="rect">
            <a:avLst>
              <a:gd name="adj" fmla="val 7500"/>
            </a:avLst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379476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4297680"/>
            <a:ext cx="914400" cy="365760"/>
          </a:xfrm>
          <a:prstGeom prst="rect">
            <a:avLst>
              <a:gd name="adj" fmla="val 7500"/>
            </a:avLst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公证处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97880" y="4297680"/>
            <a:ext cx="914400" cy="365760"/>
          </a:xfrm>
          <a:prstGeom prst="rect">
            <a:avLst>
              <a:gd name="adj" fmla="val 7500"/>
            </a:avLst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4343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P2P Gossip 协议互联 · Raft 共识 · Kafka 排序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数据上链模型:什么上链、什么不上链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>
              <a:gd name="adj" fmla="val 6000"/>
            </a:avLst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上链内容(哈希指纹,不是原数据)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1097280" cy="365760"/>
          </a:xfrm>
          <a:prstGeom prst="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视频指纹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SHA-256 + SM3 双重哈希,256 bit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65960"/>
            <a:ext cx="1097280" cy="365760"/>
          </a:xfrm>
          <a:prstGeom prst="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音频指纹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音频文件哈希,确保音轨未被替换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77440"/>
            <a:ext cx="1097280" cy="365760"/>
          </a:xfrm>
          <a:prstGeom prst="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合同哈希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电子合同 PDF 哈希 + 签名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788920"/>
            <a:ext cx="1097280" cy="365760"/>
          </a:xfrm>
          <a:prstGeom prst="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证据包摘要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Merkle Root 包含所有节点结果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200400"/>
            <a:ext cx="1097280" cy="365760"/>
          </a:xfrm>
          <a:prstGeom prst="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可信时间戳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国家授时中心 NTP 校时结果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611880"/>
            <a:ext cx="1097280" cy="365760"/>
          </a:xfrm>
          <a:prstGeom prst="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参与方签名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459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+ 经理 + 见证人 SM2 签名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4023360" cy="457200"/>
          </a:xfrm>
          <a:prstGeom prst="rect">
            <a:avLst>
              <a:gd name="adj" fmla="val 6000"/>
            </a:avLst>
          </a:prstGeom>
          <a:solidFill>
            <a:srgbClr val="8D99A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不上链(存对象存储,链下保留)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55448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1554480"/>
            <a:ext cx="1097280" cy="365760"/>
          </a:xfrm>
          <a:prstGeom prst="rect">
            <a:avLst>
              <a:gd name="adj" fmla="val 5000"/>
            </a:avLst>
          </a:prstGeom>
          <a:solidFill>
            <a:srgbClr val="8D99AE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视频原文件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对象存储 10 年留存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196596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1965960"/>
            <a:ext cx="1097280" cy="365760"/>
          </a:xfrm>
          <a:prstGeom prst="rect">
            <a:avLst>
              <a:gd name="adj" fmla="val 5000"/>
            </a:avLst>
          </a:prstGeom>
          <a:solidFill>
            <a:srgbClr val="8D99AE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音频原文件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216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标准存储,按需取用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37744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42" name="Shape 40"/>
          <p:cNvSpPr/>
          <p:nvPr/>
        </p:nvSpPr>
        <p:spPr>
          <a:xfrm>
            <a:off x="4663440" y="2377440"/>
            <a:ext cx="1097280" cy="365760"/>
          </a:xfrm>
          <a:prstGeom prst="rect">
            <a:avLst>
              <a:gd name="adj" fmla="val 5000"/>
            </a:avLst>
          </a:pr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 PDF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5216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+ CDN 分发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278892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46" name="Shape 44"/>
          <p:cNvSpPr/>
          <p:nvPr/>
        </p:nvSpPr>
        <p:spPr>
          <a:xfrm>
            <a:off x="4663440" y="2788920"/>
            <a:ext cx="1097280" cy="365760"/>
          </a:xfrm>
          <a:prstGeom prst="rect">
            <a:avLst>
              <a:gd name="adj" fmla="val 5000"/>
            </a:avLst>
          </a:prstGeom>
          <a:solidFill>
            <a:srgbClr val="8D99AE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客户身份证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521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加密存储,符合隐私法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20040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50" name="Shape 48"/>
          <p:cNvSpPr/>
          <p:nvPr/>
        </p:nvSpPr>
        <p:spPr>
          <a:xfrm>
            <a:off x="4663440" y="3200400"/>
            <a:ext cx="1097280" cy="365760"/>
          </a:xfrm>
          <a:prstGeom prst="rect">
            <a:avLst>
              <a:gd name="adj" fmla="val 5000"/>
            </a:avLst>
          </a:prstGeom>
          <a:solidFill>
            <a:srgbClr val="8D99AE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人脸照片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521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加密,24h 自动清理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611880"/>
            <a:ext cx="402336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54" name="Shape 52"/>
          <p:cNvSpPr/>
          <p:nvPr/>
        </p:nvSpPr>
        <p:spPr>
          <a:xfrm>
            <a:off x="4663440" y="3611880"/>
            <a:ext cx="1097280" cy="365760"/>
          </a:xfrm>
          <a:prstGeom prst="rect">
            <a:avLst>
              <a:gd name="adj" fmla="val 5000"/>
            </a:avLst>
          </a:prstGeom>
          <a:solidFill>
            <a:srgbClr val="8D99AE"/>
          </a:solidFill>
          <a:ln/>
        </p:spPr>
      </p:sp>
      <p:sp>
        <p:nvSpPr>
          <p:cNvPr id="55" name="Text 53"/>
          <p:cNvSpPr/>
          <p:nvPr/>
        </p:nvSpPr>
        <p:spPr>
          <a:xfrm>
            <a:off x="466344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手写签名图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521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归档,与合同绑定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160520"/>
            <a:ext cx="8229600" cy="548640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42062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【关键设计】上链存「指纹」、不上链存「数据」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链上验证指纹 + 链下取数据 = 兼顾存证严肃性与存储成本,数据可恢复、可校验、不可篡改。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3】上链成本:单笔双录约 0.5 元(对比存证价值 1000 元+,ROI 2000 倍)。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智能合约设计:Chaincode 关键逻辑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CHAINCODE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核心合约方法 (Go / Node.js)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54864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submitEvidence()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(orderId, hash, signature)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417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txId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114800" cy="54864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74520"/>
            <a:ext cx="73152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verifyEvidence()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(orderId, hash)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bool, timestamp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4114800" cy="54864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468880"/>
            <a:ext cx="73152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freezeContract()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(orderId, parties)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606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blockHeight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4114800" cy="54864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063240"/>
            <a:ext cx="73152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queryHistory()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(orderId)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evidence list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合约代码示例(Go)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280160"/>
            <a:ext cx="3840480" cy="2743200"/>
          </a:xfrm>
          <a:prstGeom prst="rect">
            <a:avLst>
              <a:gd name="adj" fmla="val 1000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3716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 (s *EvidenceContract) SubmitEvidence(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ctx contractapi.TransactionContextInterface,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orderId string,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videoHash string,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audioHash string,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contractHash string,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signature string,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error {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// 1. 参数校验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if orderId == "" || videoHash == "" {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return errors.New("参数缺失")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// 2. 国密签名校验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if !sm2.Verify(orderId+videoHash, signature) {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return errors.New("签名无效")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// 3. 构造证据包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evidence := Evidence{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OrderId:     orderId,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VideoHash:   videoHash,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AudioHash:   audioHash,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ContractHash: contractHash,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Signature:   signature,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Timestamp:   getTrustTime(),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Submitter:   getCreator(ctx),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</a:t>
            </a:r>
            <a:endParaRPr lang="en-US" sz="750" dirty="0"/>
          </a:p>
          <a:p>
            <a:pPr algn="l" indent="0" marL="0">
              <a:buNone/>
            </a:pP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// 4. 写入账本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evidenceBytes, _ := json.Marshal(evidence)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return ctx.GetStub().PutState(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orderId, evidenceBytes,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548640"/>
          </a:xfrm>
          <a:prstGeom prst="rect">
            <a:avLst>
              <a:gd name="adj" fmla="val 8333"/>
            </a:avLst>
          </a:prstGeom>
          <a:solidFill>
            <a:srgbClr val="EDF2F4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【合约设计原则】幂等性 + 最小权限 + 事件触发 + 可升级(链码版本化)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每次写入用 orderId 作 key 实现幂等;Read-only 调用免费;写操作走背书策略需 2 节点签名。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4】合约升级:Hyperledger Fabric 链码版本化机制,新版本经 4 节点共识后启用,旧版本保留。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性能与扩展性:扛住业务高峰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65960" cy="1645920"/>
          </a:xfrm>
          <a:prstGeom prst="rect">
            <a:avLst>
              <a:gd name="adj" fmla="val 2778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96596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峰值吞吐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Raft 共识 + 批量打包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965960" cy="1645920"/>
          </a:xfrm>
          <a:prstGeom prst="rect">
            <a:avLst>
              <a:gd name="adj" fmla="val 2778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005840"/>
            <a:ext cx="196596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6032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上链延迟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331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从提交到最终性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965960" cy="1645920"/>
          </a:xfrm>
          <a:prstGeom prst="rect">
            <a:avLst>
              <a:gd name="adj" fmla="val 2778"/>
            </a:avLst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005840"/>
            <a:ext cx="196596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66344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批量峰值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331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排序节点扩展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66560" y="1005840"/>
            <a:ext cx="1965960" cy="1645920"/>
          </a:xfrm>
          <a:prstGeom prst="rect">
            <a:avLst>
              <a:gd name="adj" fmla="val 2778"/>
            </a:avLst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1005840"/>
            <a:ext cx="196596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76656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数据丢失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331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Raft + 3 副本强一致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性能优化手段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批量打包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Orderer 节点 100ms 批量出块,TPS 提升 10x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29184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1208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读写分离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查询走 LevelDB 缓存,写才走共识,读免费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79476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794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0584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状态分片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9456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按月份建 Channel,大表拆小降低单链压力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79476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794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21208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并行背书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背书策略并行执行,延迟从 800ms 降至 200ms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5】业务估算:全行日均 50 万笔双录 × 每笔 1 次上链 = 50 万 TPS 峰值需求,需分片 + 多链扩展。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国密集成:SM2/SM3/SM4 全栈适配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CRYPTO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2286000"/>
          </a:xfrm>
          <a:prstGeom prst="rect">
            <a:avLst>
              <a:gd name="adj" fmla="val 2000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606040" cy="640080"/>
          </a:xfrm>
          <a:prstGeom prst="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椭圆曲线非对称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数字签名 + 身份认证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位密钥,等价 RSA 3072 位,签一次 &lt; 1ms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8980" y="960120"/>
            <a:ext cx="2606040" cy="2286000"/>
          </a:xfrm>
          <a:prstGeom prst="rect">
            <a:avLst>
              <a:gd name="adj" fmla="val 2000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68980" y="960120"/>
            <a:ext cx="2606040" cy="640080"/>
          </a:xfrm>
          <a:prstGeom prst="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3268980" y="960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0614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杂凑算法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614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证据指纹 + Merkle Tree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614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位输出,抗碰撞性强,等价 SHA-256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06040" cy="2286000"/>
          </a:xfrm>
          <a:prstGeom prst="rect">
            <a:avLst>
              <a:gd name="adj" fmla="val 2000"/>
            </a:avLst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960120"/>
            <a:ext cx="2606040" cy="640080"/>
          </a:xfrm>
          <a:prstGeom prst="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960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对称分组密码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视频/合同加密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 位密钥,加解密速度 &gt; 1GB/s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隐私保护:3 层防护 + 通道隔离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840480"/>
            <a:ext cx="1280160" cy="365760"/>
          </a:xfrm>
          <a:prstGeom prst="rect">
            <a:avLst>
              <a:gd name="adj" fmla="val 5000"/>
            </a:avLst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网络层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840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本行 / 监管 / 保险公司 / 公证 各自独立 Channel,数据物理隔离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251960"/>
            <a:ext cx="1280160" cy="365760"/>
          </a:xfrm>
          <a:prstGeom prst="rect">
            <a:avLst>
              <a:gd name="adj" fmla="val 5000"/>
            </a:avLst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数据层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敏感字段(身份证/手机号)链下加密存储,链上只存哈希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663440"/>
            <a:ext cx="1280160" cy="365760"/>
          </a:xfrm>
          <a:prstGeom prst="rect">
            <a:avLst>
              <a:gd name="adj" fmla="val 5000"/>
            </a:avLst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63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访问层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4663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基于属性的访问控制(ABAC),细粒度到字段 + 字段级国密解密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6】硬件国密机:采用卫士通/三未信安等国产密码机,密钥永不离开硬件,符合 GM/T 0034 标准。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监管对接 + 司法采信:让证据「真正管用」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监管对接模式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502920"/>
          </a:xfrm>
          <a:prstGeom prst="rect">
            <a:avLst>
              <a:gd name="adj" fmla="val 5455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本行双录节点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280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背书 + 上链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2331720" y="1828800"/>
            <a:ext cx="182880" cy="228600"/>
          </a:xfrm>
          <a:prstGeom prst="rtTriangle">
            <a:avLst/>
          </a:prstGeom>
          <a:solidFill>
            <a:srgbClr val="D90429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03120"/>
            <a:ext cx="4114800" cy="502920"/>
          </a:xfrm>
          <a:prstGeom prst="rect">
            <a:avLst>
              <a:gd name="adj" fmla="val 5455"/>
            </a:avLst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监管节点(银保监)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实时查询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73152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白名单审计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监管可查询,不可篡改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411480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154680"/>
            <a:ext cx="73152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实时告警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异常交易 30s 内推送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4114800" cy="36576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566160"/>
            <a:ext cx="73152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批量报送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 自动化,无需人工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司法采信路径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1280160"/>
            <a:ext cx="548640" cy="457200"/>
          </a:xfrm>
          <a:prstGeom prst="rect">
            <a:avLst>
              <a:gd name="adj" fmla="val 6000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区块链查验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法官/律师可登录链上查询接口,实时校验证据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78308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1783080"/>
            <a:ext cx="548640" cy="457200"/>
          </a:xfrm>
          <a:prstGeom prst="rect">
            <a:avLst>
              <a:gd name="adj" fmla="val 6000"/>
            </a:avLst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哈希校验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 vs 链上哈希,任何差异立即可见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28600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3440" y="2286000"/>
            <a:ext cx="548640" cy="457200"/>
          </a:xfrm>
          <a:prstGeom prst="rect">
            <a:avLst>
              <a:gd name="adj" fmla="val 6000"/>
            </a:avLst>
          </a:prstGeom>
          <a:solidFill>
            <a:srgbClr val="2B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时间戳认证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国家授时中心证明,法律认可的权威时间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78892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42" name="Shape 40"/>
          <p:cNvSpPr/>
          <p:nvPr/>
        </p:nvSpPr>
        <p:spPr>
          <a:xfrm>
            <a:off x="4663440" y="2788920"/>
            <a:ext cx="548640" cy="457200"/>
          </a:xfrm>
          <a:prstGeom prst="rect">
            <a:avLst>
              <a:gd name="adj" fmla="val 6000"/>
            </a:avLst>
          </a:pr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035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多签见证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+ 监管 + 保险公司 + 公证 4 方签名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291840"/>
            <a:ext cx="4023360" cy="457200"/>
          </a:xfrm>
          <a:prstGeom prst="rect">
            <a:avLst>
              <a:gd name="adj" fmla="val 6000"/>
            </a:avLst>
          </a:prstGeom>
          <a:solidFill>
            <a:srgbClr val="EDF2F4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3291840"/>
            <a:ext cx="548640" cy="457200"/>
          </a:xfrm>
          <a:prstGeom prst="rect">
            <a:avLst>
              <a:gd name="adj" fmla="val 6000"/>
            </a:avLst>
          </a:prstGeom>
          <a:solidFill>
            <a:srgbClr val="2B2D42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3291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0352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证据包导出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一键导出含视频+合同+链上证明,直接提交法院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7】《人民法院在线诉讼规则》明确认可区块链存证,本案架构完全符合司法采信 4 大要件。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spc="-5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0" y="1463040"/>
            <a:ext cx="36576" cy="1828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846320" y="1645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话术统一一致性方案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Script Consistency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统一话术模型 · 多模态播报 · 同步协同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P12 / 19    双录一体化 · 核心技术方案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线上线下话术不统一,带来哪些麻烦?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65960" cy="219456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版本混乱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天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平均同步周期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41732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V3.2、线下 V2.8 同时运行,产品更新 3-7 天才能同步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965960" cy="219456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9748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口径分歧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客户投诉率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2697480"/>
            <a:ext cx="141732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同一产品在线上线下话术不一致,客户发现后质疑业务专业性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1965960" cy="219456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体验割裂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6344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线下办理时长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697480"/>
            <a:ext cx="141732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H5 自动播报,线下客户经理背诵,客户感受两套流程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1051560"/>
            <a:ext cx="1965960" cy="219456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0372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766560" y="24231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监管检查重点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2697480"/>
            <a:ext cx="1417320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口径不一致导致监管检查发现「同产品不同风险揭示」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8229600" cy="45720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【核心目标】一份话术库 · 一套播报引擎 · 两种接入形态,客户体验完全一致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 大设计原则】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950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单一信源(SSOT)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39502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线上线下共享同一份话术,只读不写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抽象统一模型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0" y="4206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 → 节点 → 语料 → 渲染,与载体无关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462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适配层下沉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0" y="4462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差异在 SDK 适配,业务逻辑零变化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8】话术同步必须支持灰度发布:5% 流量 → 24h 观察 → 全量,避免版本事故。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统一话术模型:一套元数据,适配 N 种载体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457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554480" cy="777240"/>
          </a:xfrm>
          <a:prstGeom prst="rect">
            <a:avLst>
              <a:gd name="adj" fmla="val 3529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内容源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6675120" cy="777240"/>
          </a:xfrm>
          <a:prstGeom prst="rect">
            <a:avLst>
              <a:gd name="adj" fmla="val 3529"/>
            </a:avLst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法务/合规/业务三方评审通过的标准话术文本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0" y="1005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问候话术  · 产品话术  · 风险揭示  · 客户确认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1554480" cy="777240"/>
          </a:xfrm>
          <a:prstGeom prst="rect">
            <a:avLst>
              <a:gd name="adj" fmla="val 3529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92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元数据层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1892808"/>
            <a:ext cx="6675120" cy="777240"/>
          </a:xfrm>
          <a:prstGeom prst="rect">
            <a:avLst>
              <a:gd name="adj" fmla="val 3529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9385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原子化节点定义:语义 + 强约束 + 触发条件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8928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语义标签  · 强制约束  · 触发词  · 必答关键词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1554480" cy="777240"/>
          </a:xfrm>
          <a:prstGeom prst="rect">
            <a:avLst>
              <a:gd name="adj" fmla="val 3529"/>
            </a:avLst>
          </a:prstGeom>
          <a:solidFill>
            <a:srgbClr val="2B5C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7977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渲染引擎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0" y="2779776"/>
            <a:ext cx="6675120" cy="777240"/>
          </a:xfrm>
          <a:prstGeom prst="rect">
            <a:avLst>
              <a:gd name="adj" fmla="val 3529"/>
            </a:avLst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282549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根据载体自动选择播报形式(TTS/文字/语音)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77977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TTS 语音  · 字幕动效  · 动画引导  · 表情提示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1554480" cy="777240"/>
          </a:xfrm>
          <a:prstGeom prst="rect">
            <a:avLst>
              <a:gd name="adj" fmla="val 3529"/>
            </a:avLst>
          </a:prstGeom>
          <a:solidFill>
            <a:srgbClr val="3D7EB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6674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接入适配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11680" y="3666744"/>
            <a:ext cx="6675120" cy="777240"/>
          </a:xfrm>
          <a:prstGeom prst="rect">
            <a:avLst>
              <a:gd name="adj" fmla="val 3529"/>
            </a:avLst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2148840" y="371246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为各端提供统一 SDK,差异由 SDK 屏蔽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366674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H5 SDK  · 一体机 SDK  · PAD SDK  · PC SDK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502920"/>
          </a:xfrm>
          <a:prstGeom prst="rect">
            <a:avLst>
              <a:gd name="adj" fmla="val 9091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【核心数据】9 类产品 × 平均 6 节点 × 3 语种 × 4 接入端 = 648 套话术配置,统一管理 + 智能适配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9】话术原子化:每个节点独立可测试,新增产品只需配置,无需开发代码。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多模态播报 + 同步协同:让客户感受「同一套流程」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955280" y="457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65960" cy="228600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1965960" cy="45720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🔊  TTS 语音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H5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合成女声,语速 0.85x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PAD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合成女声,语速 0.85x(同源)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1234440" cy="320040"/>
          </a:xfrm>
          <a:prstGeom prst="rect">
            <a:avLst>
              <a:gd name="adj" fmla="val 8571"/>
            </a:avLst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一致度 100%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960120"/>
            <a:ext cx="1965960" cy="228600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960120"/>
            <a:ext cx="1965960" cy="45720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 字幕动效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15087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H5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高亮关键词 + 进度条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148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PAD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 屏幕同步显示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0" y="2834640"/>
            <a:ext cx="1234440" cy="320040"/>
          </a:xfrm>
          <a:prstGeom prst="rect">
            <a:avLst>
              <a:gd name="adj" fmla="val 8571"/>
            </a:avLst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一致度 100%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1965960" cy="228600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960120"/>
            <a:ext cx="1965960" cy="45720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🎵  背景音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5087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H5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环境音自动降噪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148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PAD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营业网点统一背景音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2834640"/>
            <a:ext cx="1234440" cy="320040"/>
          </a:xfrm>
          <a:prstGeom prst="rect">
            <a:avLst>
              <a:gd name="adj" fmla="val 8571"/>
            </a:avLst>
          </a:prstGeom>
          <a:solidFill>
            <a:srgbClr val="D9042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一致度 90%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960120"/>
            <a:ext cx="1965960" cy="2286000"/>
          </a:xfrm>
          <a:prstGeom prst="rect">
            <a:avLst>
              <a:gd name="adj" fmla="val 2326"/>
            </a:avLst>
          </a:prstGeom>
          <a:solidFill>
            <a:srgbClr val="EDF2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766560" y="960120"/>
            <a:ext cx="1965960" cy="45720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960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👆  交互反馈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15087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H5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 + 倒计时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2148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PAD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 手写板 + 倒计时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32320" y="2834640"/>
            <a:ext cx="1234440" cy="320040"/>
          </a:xfrm>
          <a:prstGeom prst="rect">
            <a:avLst>
              <a:gd name="adj" fmla="val 8571"/>
            </a:avLst>
          </a:prstGeom>
          <a:solidFill>
            <a:srgbClr val="D90429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一致度 95%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【同步协同机制】双录会话的「主从同步」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长连接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51760" y="3794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客户端与服务器保持 30s 心跳,延迟 &lt; 200ms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772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状态广播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65176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当前节点进度,所有端实时同步,不会走神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操作互锁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65176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客户在任一端确认,所有端立即同步状态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10】TTS 服务统一采购阿里云,音色样本由总行固定,确保全国任何网点听到的声音一致。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spc="-5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4572000" y="1463040"/>
            <a:ext cx="36576" cy="1828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846320" y="1645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对客体验感优化方案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84632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从「被动签」到「主动办」的体验升级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P16 / 19    双录一体化 · 核心技术方案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客户旅程地图:从「抗拒」到「信任」的 5 段心路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JOURNEY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591056" cy="2103120"/>
          </a:xfrm>
          <a:prstGeom prst="rect">
            <a:avLst>
              <a:gd name="adj" fmla="val 2874"/>
            </a:avLst>
          </a:prstGeom>
          <a:solidFill>
            <a:srgbClr val="EDF2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无所谓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被邀请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1042416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客户被理财经理或 APP 推送邀约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「又来推销?」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39696" y="1005840"/>
            <a:ext cx="1591056" cy="2103120"/>
          </a:xfrm>
          <a:prstGeom prst="rect">
            <a:avLst>
              <a:gd name="adj" fmla="val 2874"/>
            </a:avLst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2139696" y="10972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39696" y="14630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39696" y="192024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有兴趣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39696" y="21945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了解产品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14016" y="2514600"/>
            <a:ext cx="1042416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2231136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看到产品介绍,觉得有点意思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31136" y="28346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「到底靠不靠谱?」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22192" y="1005840"/>
            <a:ext cx="1591056" cy="2103120"/>
          </a:xfrm>
          <a:prstGeom prst="rect">
            <a:avLst>
              <a:gd name="adj" fmla="val 2874"/>
            </a:avLst>
          </a:prstGeom>
          <a:solidFill>
            <a:srgbClr val="EDF2F4"/>
          </a:solidFill>
          <a:ln/>
        </p:spPr>
      </p:sp>
      <p:sp>
        <p:nvSpPr>
          <p:cNvPr id="22" name="Text 20"/>
          <p:cNvSpPr/>
          <p:nvPr/>
        </p:nvSpPr>
        <p:spPr>
          <a:xfrm>
            <a:off x="3822192" y="10972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22192" y="14630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😟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822192" y="192024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22192" y="21945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开始双录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96512" y="2514600"/>
            <a:ext cx="1042416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3913632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进入双录流程,看到摄像头和录音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13632" y="28346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「这么麻烦?能省事点吗?」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04688" y="1005840"/>
            <a:ext cx="1591056" cy="2103120"/>
          </a:xfrm>
          <a:prstGeom prst="rect">
            <a:avLst>
              <a:gd name="adj" fmla="val 2874"/>
            </a:avLst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5504688" y="10972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04688" y="14630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504688" y="192024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安心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04688" y="21945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完成签单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79008" y="2514600"/>
            <a:ext cx="1042416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5" name="Text 33"/>
          <p:cNvSpPr/>
          <p:nvPr/>
        </p:nvSpPr>
        <p:spPr>
          <a:xfrm>
            <a:off x="5596128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专业流程走完,看到回放和凭证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96128" y="28346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「原来也没那么难」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87184" y="1005840"/>
            <a:ext cx="1591056" cy="2103120"/>
          </a:xfrm>
          <a:prstGeom prst="rect">
            <a:avLst>
              <a:gd name="adj" fmla="val 2874"/>
            </a:avLst>
          </a:prstGeom>
          <a:solidFill>
            <a:srgbClr val="EDF2F4"/>
          </a:solidFill>
          <a:ln/>
        </p:spPr>
      </p:sp>
      <p:sp>
        <p:nvSpPr>
          <p:cNvPr id="38" name="Text 36"/>
          <p:cNvSpPr/>
          <p:nvPr/>
        </p:nvSpPr>
        <p:spPr>
          <a:xfrm>
            <a:off x="7187184" y="10972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87184" y="14630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87184" y="192024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87184" y="219456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后续服务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461504" y="2514600"/>
            <a:ext cx="1042416" cy="1828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3" name="Text 41"/>
          <p:cNvSpPr/>
          <p:nvPr/>
        </p:nvSpPr>
        <p:spPr>
          <a:xfrm>
            <a:off x="7278624" y="25603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收到风险提示、回访、收益更新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78624" y="283464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「这家行挺靠谱的」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002536" y="1645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685032" y="1645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67528" y="1645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50024" y="1645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7200" y="3291840"/>
            <a:ext cx="8229600" cy="1325880"/>
          </a:xfrm>
          <a:prstGeom prst="rect">
            <a:avLst>
              <a:gd name="adj" fmla="val 3448"/>
            </a:avLst>
          </a:prstGeom>
          <a:solidFill>
            <a:srgbClr val="2B2D42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【关键卡点】Stage 03「开始双录」是流失率最高的环节(流失 30%)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大客户抗拒心理:怕麻烦 / 怕泄露 / 怕不通过。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14400" y="402336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怕麻烦 → 5 分钟极速办理 + 智能跳过已确认项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14400" y="418795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怕泄露 → 实时水印 + 隐私条款可视化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14400" y="435254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怕不通过 → 预审模式,提前告知通过率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11】客户 NPS 提升 10 分 = 业务转化率 +5%,体验感 = 商业价值。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多端协同 + 智能交互:让客户「不知不觉」走完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MULTI-DEVICE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65960" cy="1691640"/>
          </a:xfrm>
          <a:prstGeom prst="rect">
            <a:avLst>
              <a:gd name="adj" fmla="val 2703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196596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🎙️  智能跟读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线上:ASR 实时识别,自动跳转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线下:PAD 屏幕提示,经理引导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960120"/>
            <a:ext cx="1965960" cy="1691640"/>
          </a:xfrm>
          <a:prstGeom prst="rect">
            <a:avLst>
              <a:gd name="adj" fmla="val 2703"/>
            </a:avLst>
          </a:prstGeom>
          <a:solidFill>
            <a:srgbClr val="ED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960120"/>
            <a:ext cx="196596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⏸️  智能暂停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线上:客户犹豫 &gt; 5s 自动暂停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5176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线下:经理可主动暂停讲解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1965960" cy="1691640"/>
          </a:xfrm>
          <a:prstGeom prst="rect">
            <a:avLst>
              <a:gd name="adj" fmla="val 2703"/>
            </a:avLst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960120"/>
            <a:ext cx="196596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 情绪感知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线上:摄像头 + 声纹分析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线下:经理面对面观察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960120"/>
            <a:ext cx="1965960" cy="1691640"/>
          </a:xfrm>
          <a:prstGeom prst="rect">
            <a:avLst>
              <a:gd name="adj" fmla="val 2703"/>
            </a:avLst>
          </a:prstGeom>
          <a:solidFill>
            <a:srgbClr val="ED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960120"/>
            <a:ext cx="196596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097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 无感续接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线上:退出再进,自动恢复进度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线下:断网恢复,本地缓存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8229600" cy="1783080"/>
          </a:xfrm>
          <a:prstGeom prst="rect">
            <a:avLst>
              <a:gd name="adj" fmla="val 2564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【智能交互设计】让客户每一步都「刚刚好」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进度可视化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3337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进度条 + 当前节点高亮,客户随时知道还要多久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3337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智能预判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3337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根据历史办理速度,预测剩余时间,降低焦虑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中途休息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0312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允许客户申请 5 分钟休息,流程不丢、可续接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4632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人脸/证件画面可关闭预览,只在录制的视频中存在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440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回放确认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03120" y="4160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完成前给客户 30s 回看时间,任何环节都可反悔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4632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陪伴模式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0" y="4160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客户可邀请家人一起观看,多人见证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12】智能暂停让客户掌握节奏,流失率降低 40%,复购率提升 25%。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价值总结 · 落地节奏 · 客户承诺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从「合规成本」到「商业资产」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Dimensions of Value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640080"/>
          </a:xfrm>
          <a:prstGeom prst="rect">
            <a:avLst>
              <a:gd name="adj" fmla="val 7143"/>
            </a:avLst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监管价值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54864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 100% 可信,司法采信率 30% → 95%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4864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 → 实时监管报送,违规预警 0 延迟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547872"/>
            <a:ext cx="54864" cy="54864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区块链存证,直接对接电子证据司法链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3552" y="1691640"/>
            <a:ext cx="265176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73552" y="1691640"/>
            <a:ext cx="2651760" cy="640080"/>
          </a:xfrm>
          <a:prstGeom prst="rect">
            <a:avLst>
              <a:gd name="adj" fmla="val 7143"/>
            </a:avLst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341071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005072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客户价值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56432" y="2633472"/>
            <a:ext cx="54864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3593592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双录时长 30+ min → 5-8 min,降幅 75%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56432" y="3090672"/>
            <a:ext cx="54864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3593592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一次通过率 70% → 95%,流失率降低 60%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56432" y="3547872"/>
            <a:ext cx="54864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3593592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 提升 10+ 分,复购率提升 25%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9904" y="1691640"/>
            <a:ext cx="2651760" cy="228600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9904" y="1691640"/>
            <a:ext cx="2651760" cy="640080"/>
          </a:xfrm>
          <a:prstGeom prst="rect">
            <a:avLst>
              <a:gd name="adj" fmla="val 7143"/>
            </a:avLst>
          </a:prstGeom>
          <a:solidFill>
            <a:srgbClr val="FFB703"/>
          </a:solidFill>
          <a:ln/>
        </p:spPr>
      </p:sp>
      <p:sp>
        <p:nvSpPr>
          <p:cNvPr id="28" name="Text 26"/>
          <p:cNvSpPr/>
          <p:nvPr/>
        </p:nvSpPr>
        <p:spPr>
          <a:xfrm>
            <a:off x="6227064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21424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机构价值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72784" y="2633472"/>
            <a:ext cx="54864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9944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客户经理产能释放 30%,服务更多客户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72784" y="3090672"/>
            <a:ext cx="54864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9944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纸质单据归零,年节省运营成本 500 万+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72784" y="3547872"/>
            <a:ext cx="54864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5" name="Text 33"/>
          <p:cNvSpPr/>
          <p:nvPr/>
        </p:nvSpPr>
        <p:spPr>
          <a:xfrm>
            <a:off x="6409944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客户全链路数据资产,精准营销转化 +20%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8229600" cy="502920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【落地节奏】区块链 + 话术统一:第 1-3 月试点(1 个产品) → 第 4-6 月扩面(全产品) → 第 7 月起全行推广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汇报人:[姓名]    |    汇报日期:2026 年 8 月    |    19 /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 + 话术统一技术架构方案</dc:title>
  <dc:subject>双录一体化核心技术方案</dc:subject>
  <dc:creator>Mavis</dc:creator>
  <cp:lastModifiedBy>Mavis</cp:lastModifiedBy>
  <cp:revision>1</cp:revision>
  <dcterms:created xsi:type="dcterms:W3CDTF">2026-08-01T13:04:51Z</dcterms:created>
  <dcterms:modified xsi:type="dcterms:W3CDTF">2026-08-01T13:04:51Z</dcterms:modified>
</cp:coreProperties>
</file>